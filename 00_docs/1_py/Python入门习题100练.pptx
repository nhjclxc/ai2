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2"/>
  </p:notesMasterIdLst>
  <p:handoutMasterIdLst>
    <p:handoutMasterId r:id="rId106"/>
  </p:handoutMasterIdLst>
  <p:sldIdLst>
    <p:sldId id="257" r:id="rId3"/>
    <p:sldId id="514" r:id="rId4"/>
    <p:sldId id="515" r:id="rId5"/>
    <p:sldId id="516" r:id="rId6"/>
    <p:sldId id="517" r:id="rId7"/>
    <p:sldId id="518" r:id="rId8"/>
    <p:sldId id="519" r:id="rId9"/>
    <p:sldId id="520" r:id="rId10"/>
    <p:sldId id="521" r:id="rId11"/>
    <p:sldId id="522" r:id="rId12"/>
    <p:sldId id="523" r:id="rId13"/>
    <p:sldId id="524" r:id="rId14"/>
    <p:sldId id="525" r:id="rId15"/>
    <p:sldId id="526" r:id="rId16"/>
    <p:sldId id="527" r:id="rId17"/>
    <p:sldId id="528" r:id="rId18"/>
    <p:sldId id="529" r:id="rId19"/>
    <p:sldId id="530" r:id="rId20"/>
    <p:sldId id="531" r:id="rId21"/>
    <p:sldId id="532" r:id="rId22"/>
    <p:sldId id="533" r:id="rId23"/>
    <p:sldId id="534" r:id="rId24"/>
    <p:sldId id="535" r:id="rId25"/>
    <p:sldId id="536" r:id="rId26"/>
    <p:sldId id="537" r:id="rId27"/>
    <p:sldId id="538" r:id="rId28"/>
    <p:sldId id="539" r:id="rId29"/>
    <p:sldId id="540" r:id="rId30"/>
    <p:sldId id="541" r:id="rId31"/>
    <p:sldId id="542" r:id="rId32"/>
    <p:sldId id="543" r:id="rId33"/>
    <p:sldId id="544" r:id="rId34"/>
    <p:sldId id="545" r:id="rId35"/>
    <p:sldId id="546" r:id="rId36"/>
    <p:sldId id="547" r:id="rId37"/>
    <p:sldId id="548" r:id="rId38"/>
    <p:sldId id="549" r:id="rId39"/>
    <p:sldId id="550" r:id="rId40"/>
    <p:sldId id="551" r:id="rId41"/>
    <p:sldId id="552" r:id="rId42"/>
    <p:sldId id="553" r:id="rId43"/>
    <p:sldId id="554" r:id="rId44"/>
    <p:sldId id="555" r:id="rId45"/>
    <p:sldId id="556" r:id="rId46"/>
    <p:sldId id="557" r:id="rId47"/>
    <p:sldId id="558" r:id="rId48"/>
    <p:sldId id="559" r:id="rId49"/>
    <p:sldId id="560" r:id="rId50"/>
    <p:sldId id="561" r:id="rId51"/>
    <p:sldId id="562" r:id="rId52"/>
    <p:sldId id="563" r:id="rId53"/>
    <p:sldId id="564" r:id="rId54"/>
    <p:sldId id="565" r:id="rId55"/>
    <p:sldId id="566" r:id="rId56"/>
    <p:sldId id="567" r:id="rId57"/>
    <p:sldId id="568" r:id="rId58"/>
    <p:sldId id="569" r:id="rId59"/>
    <p:sldId id="570" r:id="rId60"/>
    <p:sldId id="571" r:id="rId61"/>
    <p:sldId id="572" r:id="rId62"/>
    <p:sldId id="573" r:id="rId63"/>
    <p:sldId id="574" r:id="rId64"/>
    <p:sldId id="575" r:id="rId65"/>
    <p:sldId id="576" r:id="rId66"/>
    <p:sldId id="577" r:id="rId67"/>
    <p:sldId id="578" r:id="rId68"/>
    <p:sldId id="579" r:id="rId69"/>
    <p:sldId id="580" r:id="rId70"/>
    <p:sldId id="581" r:id="rId71"/>
    <p:sldId id="582" r:id="rId72"/>
    <p:sldId id="583" r:id="rId73"/>
    <p:sldId id="584" r:id="rId74"/>
    <p:sldId id="585" r:id="rId75"/>
    <p:sldId id="586" r:id="rId76"/>
    <p:sldId id="587" r:id="rId77"/>
    <p:sldId id="588" r:id="rId78"/>
    <p:sldId id="589" r:id="rId79"/>
    <p:sldId id="590" r:id="rId80"/>
    <p:sldId id="591" r:id="rId81"/>
    <p:sldId id="592" r:id="rId83"/>
    <p:sldId id="594" r:id="rId84"/>
    <p:sldId id="593" r:id="rId85"/>
    <p:sldId id="595" r:id="rId86"/>
    <p:sldId id="596" r:id="rId87"/>
    <p:sldId id="597" r:id="rId88"/>
    <p:sldId id="598" r:id="rId89"/>
    <p:sldId id="599" r:id="rId90"/>
    <p:sldId id="600" r:id="rId91"/>
    <p:sldId id="601" r:id="rId92"/>
    <p:sldId id="602" r:id="rId93"/>
    <p:sldId id="603" r:id="rId94"/>
    <p:sldId id="604" r:id="rId95"/>
    <p:sldId id="605" r:id="rId96"/>
    <p:sldId id="606" r:id="rId97"/>
    <p:sldId id="607" r:id="rId98"/>
    <p:sldId id="608" r:id="rId99"/>
    <p:sldId id="609" r:id="rId100"/>
    <p:sldId id="610" r:id="rId101"/>
    <p:sldId id="611" r:id="rId102"/>
    <p:sldId id="612" r:id="rId103"/>
    <p:sldId id="613" r:id="rId104"/>
    <p:sldId id="289" r:id="rId105"/>
  </p:sldIdLst>
  <p:sldSz cx="12192000" cy="6858000"/>
  <p:notesSz cx="6858000" cy="9144000"/>
  <p:custDataLst>
    <p:tags r:id="rId1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B4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p:cViewPr varScale="1">
        <p:scale>
          <a:sx n="60" d="100"/>
          <a:sy n="60" d="100"/>
        </p:scale>
        <p:origin x="264" y="6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notesMaster" Target="notesMasters/notesMaster1.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0" Type="http://schemas.openxmlformats.org/officeDocument/2006/relationships/tags" Target="tags/tag104.xml"/><Relationship Id="rId11" Type="http://schemas.openxmlformats.org/officeDocument/2006/relationships/slide" Target="slides/slide9.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handoutMaster" Target="handoutMasters/handoutMaster1.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9A9E8B-8668-4EE9-81CF-39121E27677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1"/>
      </p:bgRef>
    </p:bg>
    <p:spTree>
      <p:nvGrpSpPr>
        <p:cNvPr id="1" name=""/>
        <p:cNvGrpSpPr/>
        <p:nvPr/>
      </p:nvGrpSpPr>
      <p:grpSpPr>
        <a:xfrm>
          <a:off x="0" y="0"/>
          <a:ext cx="0" cy="0"/>
          <a:chOff x="0" y="0"/>
          <a:chExt cx="0" cy="0"/>
        </a:xfrm>
      </p:grpSpPr>
      <p:grpSp>
        <p:nvGrpSpPr>
          <p:cNvPr id="52" name="Group 51"/>
          <p:cNvGrpSpPr/>
          <p:nvPr/>
        </p:nvGrpSpPr>
        <p:grpSpPr>
          <a:xfrm>
            <a:off x="-23688" y="0"/>
            <a:ext cx="12215688" cy="6858000"/>
            <a:chOff x="-23688" y="0"/>
            <a:chExt cx="12215688" cy="6858000"/>
          </a:xfrm>
        </p:grpSpPr>
        <p:grpSp>
          <p:nvGrpSpPr>
            <p:cNvPr id="46" name="Group 45"/>
            <p:cNvGrpSpPr/>
            <p:nvPr/>
          </p:nvGrpSpPr>
          <p:grpSpPr>
            <a:xfrm>
              <a:off x="-23688" y="599372"/>
              <a:ext cx="11458486" cy="6258628"/>
              <a:chOff x="-23688" y="599372"/>
              <a:chExt cx="11458486" cy="6258628"/>
            </a:xfrm>
          </p:grpSpPr>
          <p:sp>
            <p:nvSpPr>
              <p:cNvPr id="39" name="TextBox 38"/>
              <p:cNvSpPr txBox="1">
                <a:spLocks noChangeAspect="1"/>
              </p:cNvSpPr>
              <p:nvPr/>
            </p:nvSpPr>
            <p:spPr>
              <a:xfrm rot="18840464">
                <a:off x="11028508" y="4791728"/>
                <a:ext cx="406290" cy="406290"/>
              </a:xfrm>
              <a:prstGeom prst="roundRect">
                <a:avLst>
                  <a:gd name="adj" fmla="val 0"/>
                </a:avLst>
              </a:prstGeom>
              <a:solidFill>
                <a:schemeClr val="accent2"/>
              </a:solidFill>
            </p:spPr>
            <p:txBody>
              <a:bodyPr wrap="none" lIns="108000" tIns="108000" rIns="108000" bIns="108000" rtlCol="0" anchor="ctr" anchorCtr="0">
                <a:noAutofit/>
              </a:bodyPr>
              <a:lstStyle/>
              <a:p>
                <a:pPr algn="ctr"/>
                <a:endParaRPr kumimoji="1" lang="zh-CN" altLang="en-US" sz="2000" b="1">
                  <a:noFill/>
                  <a:latin typeface="Arial" panose="020B0604020202020204" pitchFamily="34" charset="0"/>
                  <a:ea typeface="微软雅黑" panose="020B0503020204020204" pitchFamily="34" charset="-122"/>
                  <a:sym typeface="Arial" panose="020B0604020202020204" pitchFamily="34" charset="0"/>
                </a:endParaRPr>
              </a:p>
            </p:txBody>
          </p:sp>
          <p:grpSp>
            <p:nvGrpSpPr>
              <p:cNvPr id="45" name="Group 44"/>
              <p:cNvGrpSpPr/>
              <p:nvPr/>
            </p:nvGrpSpPr>
            <p:grpSpPr>
              <a:xfrm>
                <a:off x="-23688" y="599372"/>
                <a:ext cx="6564188" cy="6258628"/>
                <a:chOff x="-23688" y="599372"/>
                <a:chExt cx="6564188" cy="6258628"/>
              </a:xfrm>
            </p:grpSpPr>
            <p:sp>
              <p:nvSpPr>
                <p:cNvPr id="34" name="Freeform: Shape 33"/>
                <p:cNvSpPr/>
                <p:nvPr/>
              </p:nvSpPr>
              <p:spPr>
                <a:xfrm flipH="1">
                  <a:off x="0" y="2760641"/>
                  <a:ext cx="6540500" cy="4097359"/>
                </a:xfrm>
                <a:custGeom>
                  <a:avLst/>
                  <a:gdLst>
                    <a:gd name="connsiteX0" fmla="*/ 4601591 w 6856446"/>
                    <a:gd name="connsiteY0" fmla="*/ 0 h 4295286"/>
                    <a:gd name="connsiteX1" fmla="*/ 0 w 6856446"/>
                    <a:gd name="connsiteY1" fmla="*/ 4295286 h 4295286"/>
                    <a:gd name="connsiteX2" fmla="*/ 6856446 w 6856446"/>
                    <a:gd name="connsiteY2" fmla="*/ 4295286 h 4295286"/>
                    <a:gd name="connsiteX3" fmla="*/ 6856446 w 6856446"/>
                    <a:gd name="connsiteY3" fmla="*/ 2104761 h 4295286"/>
                  </a:gdLst>
                  <a:ahLst/>
                  <a:cxnLst>
                    <a:cxn ang="0">
                      <a:pos x="connsiteX0" y="connsiteY0"/>
                    </a:cxn>
                    <a:cxn ang="0">
                      <a:pos x="connsiteX1" y="connsiteY1"/>
                    </a:cxn>
                    <a:cxn ang="0">
                      <a:pos x="connsiteX2" y="connsiteY2"/>
                    </a:cxn>
                    <a:cxn ang="0">
                      <a:pos x="connsiteX3" y="connsiteY3"/>
                    </a:cxn>
                  </a:cxnLst>
                  <a:rect l="l" t="t" r="r" b="b"/>
                  <a:pathLst>
                    <a:path w="6856446" h="4295286">
                      <a:moveTo>
                        <a:pt x="4601591" y="0"/>
                      </a:moveTo>
                      <a:lnTo>
                        <a:pt x="0" y="4295286"/>
                      </a:lnTo>
                      <a:lnTo>
                        <a:pt x="6856446" y="4295286"/>
                      </a:lnTo>
                      <a:lnTo>
                        <a:pt x="6856446" y="2104761"/>
                      </a:ln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Rectangle 12"/>
                <p:cNvSpPr/>
                <p:nvPr/>
              </p:nvSpPr>
              <p:spPr>
                <a:xfrm rot="2700000" flipH="1">
                  <a:off x="3071558" y="599372"/>
                  <a:ext cx="1277932" cy="12779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iamond 13"/>
                <p:cNvSpPr/>
                <p:nvPr/>
              </p:nvSpPr>
              <p:spPr>
                <a:xfrm rot="5400000" flipH="1">
                  <a:off x="4954712" y="3344419"/>
                  <a:ext cx="1061593" cy="1061593"/>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Shape 39"/>
                <p:cNvSpPr/>
                <p:nvPr/>
              </p:nvSpPr>
              <p:spPr>
                <a:xfrm rot="2700000" flipH="1">
                  <a:off x="989836" y="1414588"/>
                  <a:ext cx="3634109" cy="3634108"/>
                </a:xfrm>
                <a:custGeom>
                  <a:avLst/>
                  <a:gdLst>
                    <a:gd name="connsiteX0" fmla="*/ 3361720 w 3809659"/>
                    <a:gd name="connsiteY0" fmla="*/ 2105974 h 3809658"/>
                    <a:gd name="connsiteX1" fmla="*/ 3361720 w 3809659"/>
                    <a:gd name="connsiteY1" fmla="*/ 3361719 h 3809658"/>
                    <a:gd name="connsiteX2" fmla="*/ 2114069 w 3809659"/>
                    <a:gd name="connsiteY2" fmla="*/ 3361719 h 3809658"/>
                    <a:gd name="connsiteX3" fmla="*/ 2114070 w 3809659"/>
                    <a:gd name="connsiteY3" fmla="*/ 2105974 h 3809658"/>
                    <a:gd name="connsiteX4" fmla="*/ 2948385 w 3809659"/>
                    <a:gd name="connsiteY4" fmla="*/ 0 h 3809658"/>
                    <a:gd name="connsiteX5" fmla="*/ 0 w 3809659"/>
                    <a:gd name="connsiteY5" fmla="*/ 0 h 3809658"/>
                    <a:gd name="connsiteX6" fmla="*/ 0 w 3809659"/>
                    <a:gd name="connsiteY6" fmla="*/ 3809658 h 3809658"/>
                    <a:gd name="connsiteX7" fmla="*/ 3809659 w 3809659"/>
                    <a:gd name="connsiteY7" fmla="*/ 3809658 h 3809658"/>
                    <a:gd name="connsiteX8" fmla="*/ 3809659 w 3809659"/>
                    <a:gd name="connsiteY8" fmla="*/ 1912480 h 3809658"/>
                    <a:gd name="connsiteX9" fmla="*/ 3803635 w 3809659"/>
                    <a:gd name="connsiteY9" fmla="*/ 1912480 h 3809658"/>
                    <a:gd name="connsiteX10" fmla="*/ 3803635 w 3809659"/>
                    <a:gd name="connsiteY10" fmla="*/ 1668501 h 3809658"/>
                    <a:gd name="connsiteX11" fmla="*/ 1669726 w 3809659"/>
                    <a:gd name="connsiteY11" fmla="*/ 1668501 h 3809658"/>
                    <a:gd name="connsiteX12" fmla="*/ 1669725 w 3809659"/>
                    <a:gd name="connsiteY12" fmla="*/ 3361719 h 3809658"/>
                    <a:gd name="connsiteX13" fmla="*/ 447939 w 3809659"/>
                    <a:gd name="connsiteY13" fmla="*/ 3361719 h 3809658"/>
                    <a:gd name="connsiteX14" fmla="*/ 447939 w 3809659"/>
                    <a:gd name="connsiteY14" fmla="*/ 447939 h 3809658"/>
                    <a:gd name="connsiteX15" fmla="*/ 2948385 w 3809659"/>
                    <a:gd name="connsiteY15" fmla="*/ 447939 h 3809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9659" h="3809658">
                      <a:moveTo>
                        <a:pt x="3361720" y="2105974"/>
                      </a:moveTo>
                      <a:lnTo>
                        <a:pt x="3361720" y="3361719"/>
                      </a:lnTo>
                      <a:lnTo>
                        <a:pt x="2114069" y="3361719"/>
                      </a:lnTo>
                      <a:lnTo>
                        <a:pt x="2114070" y="2105974"/>
                      </a:lnTo>
                      <a:close/>
                      <a:moveTo>
                        <a:pt x="2948385" y="0"/>
                      </a:moveTo>
                      <a:lnTo>
                        <a:pt x="0" y="0"/>
                      </a:lnTo>
                      <a:lnTo>
                        <a:pt x="0" y="3809658"/>
                      </a:lnTo>
                      <a:lnTo>
                        <a:pt x="3809659" y="3809658"/>
                      </a:lnTo>
                      <a:lnTo>
                        <a:pt x="3809659" y="1912480"/>
                      </a:lnTo>
                      <a:lnTo>
                        <a:pt x="3803635" y="1912480"/>
                      </a:lnTo>
                      <a:lnTo>
                        <a:pt x="3803635" y="1668501"/>
                      </a:lnTo>
                      <a:lnTo>
                        <a:pt x="1669726" y="1668501"/>
                      </a:lnTo>
                      <a:lnTo>
                        <a:pt x="1669725" y="3361719"/>
                      </a:lnTo>
                      <a:lnTo>
                        <a:pt x="447939" y="3361719"/>
                      </a:lnTo>
                      <a:lnTo>
                        <a:pt x="447939" y="447939"/>
                      </a:lnTo>
                      <a:lnTo>
                        <a:pt x="2948385" y="44793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6" name="Rectangle 25"/>
                <p:cNvSpPr/>
                <p:nvPr/>
              </p:nvSpPr>
              <p:spPr>
                <a:xfrm rot="18900000" flipH="1">
                  <a:off x="1577093" y="2005447"/>
                  <a:ext cx="2491002" cy="2491002"/>
                </a:xfrm>
                <a:prstGeom prst="rect">
                  <a:avLst/>
                </a:prstGeom>
                <a:blipFill rotWithShape="0">
                  <a:blip r:embed="rId2"/>
                  <a:srcRect/>
                  <a:stretch>
                    <a:fillRect l="-36430" r="-42010"/>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4" name="Freeform: Shape 43"/>
                <p:cNvSpPr/>
                <p:nvPr/>
              </p:nvSpPr>
              <p:spPr>
                <a:xfrm>
                  <a:off x="-23688" y="3912691"/>
                  <a:ext cx="1668102" cy="1807269"/>
                </a:xfrm>
                <a:custGeom>
                  <a:avLst/>
                  <a:gdLst>
                    <a:gd name="connsiteX0" fmla="*/ 764468 w 1668102"/>
                    <a:gd name="connsiteY0" fmla="*/ 0 h 1807269"/>
                    <a:gd name="connsiteX1" fmla="*/ 1668102 w 1668102"/>
                    <a:gd name="connsiteY1" fmla="*/ 903634 h 1807269"/>
                    <a:gd name="connsiteX2" fmla="*/ 764468 w 1668102"/>
                    <a:gd name="connsiteY2" fmla="*/ 1807269 h 1807269"/>
                    <a:gd name="connsiteX3" fmla="*/ 0 w 1668102"/>
                    <a:gd name="connsiteY3" fmla="*/ 1042801 h 1807269"/>
                    <a:gd name="connsiteX4" fmla="*/ 0 w 1668102"/>
                    <a:gd name="connsiteY4" fmla="*/ 764468 h 1807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102" h="1807269">
                      <a:moveTo>
                        <a:pt x="764468" y="0"/>
                      </a:moveTo>
                      <a:lnTo>
                        <a:pt x="1668102" y="903634"/>
                      </a:lnTo>
                      <a:lnTo>
                        <a:pt x="764468" y="1807269"/>
                      </a:lnTo>
                      <a:lnTo>
                        <a:pt x="0" y="1042801"/>
                      </a:lnTo>
                      <a:lnTo>
                        <a:pt x="0" y="76446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50" name="Freeform: Shape 49"/>
            <p:cNvSpPr/>
            <p:nvPr/>
          </p:nvSpPr>
          <p:spPr>
            <a:xfrm flipV="1">
              <a:off x="10692304" y="0"/>
              <a:ext cx="1499696" cy="749848"/>
            </a:xfrm>
            <a:custGeom>
              <a:avLst/>
              <a:gdLst>
                <a:gd name="connsiteX0" fmla="*/ 975586 w 1951172"/>
                <a:gd name="connsiteY0" fmla="*/ 0 h 975586"/>
                <a:gd name="connsiteX1" fmla="*/ 1951172 w 1951172"/>
                <a:gd name="connsiteY1" fmla="*/ 975586 h 975586"/>
                <a:gd name="connsiteX2" fmla="*/ 0 w 1951172"/>
                <a:gd name="connsiteY2" fmla="*/ 975586 h 975586"/>
              </a:gdLst>
              <a:ahLst/>
              <a:cxnLst>
                <a:cxn ang="0">
                  <a:pos x="connsiteX0" y="connsiteY0"/>
                </a:cxn>
                <a:cxn ang="0">
                  <a:pos x="connsiteX1" y="connsiteY1"/>
                </a:cxn>
                <a:cxn ang="0">
                  <a:pos x="connsiteX2" y="connsiteY2"/>
                </a:cxn>
              </a:cxnLst>
              <a:rect l="l" t="t" r="r" b="b"/>
              <a:pathLst>
                <a:path w="1951172" h="975586">
                  <a:moveTo>
                    <a:pt x="975586" y="0"/>
                  </a:moveTo>
                  <a:lnTo>
                    <a:pt x="1951172" y="975586"/>
                  </a:lnTo>
                  <a:lnTo>
                    <a:pt x="0" y="975586"/>
                  </a:ln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Title 4"/>
          <p:cNvSpPr>
            <a:spLocks noGrp="1"/>
          </p:cNvSpPr>
          <p:nvPr>
            <p:ph type="ctrTitle" hasCustomPrompt="1"/>
          </p:nvPr>
        </p:nvSpPr>
        <p:spPr>
          <a:xfrm>
            <a:off x="4673600" y="1487957"/>
            <a:ext cx="6845300" cy="2266455"/>
          </a:xfrm>
          <a:prstGeom prst="rect">
            <a:avLst/>
          </a:prstGeom>
        </p:spPr>
        <p:txBody>
          <a:bodyPr wrap="square" anchor="b">
            <a:normAutofit/>
          </a:bodyPr>
          <a:lstStyle>
            <a:lvl1pPr algn="r">
              <a:lnSpc>
                <a:spcPct val="100000"/>
              </a:lnSpc>
              <a:defRPr sz="4800">
                <a:ln w="19050">
                  <a:noFill/>
                </a:ln>
                <a:solidFill>
                  <a:schemeClr val="tx1"/>
                </a:solidFill>
              </a:defRPr>
            </a:lvl1pPr>
          </a:lstStyle>
          <a:p>
            <a:pPr lvl="0"/>
            <a:r>
              <a:rPr lang="en-US"/>
              <a:t>Click to add title</a:t>
            </a:r>
            <a:endParaRPr lang="en-US"/>
          </a:p>
        </p:txBody>
      </p:sp>
      <p:sp>
        <p:nvSpPr>
          <p:cNvPr id="9" name="Subtitle 8"/>
          <p:cNvSpPr>
            <a:spLocks noGrp="1"/>
          </p:cNvSpPr>
          <p:nvPr>
            <p:ph type="subTitle" sz="quarter" idx="1" hasCustomPrompt="1"/>
          </p:nvPr>
        </p:nvSpPr>
        <p:spPr>
          <a:xfrm>
            <a:off x="7649030" y="3955180"/>
            <a:ext cx="3869870" cy="620518"/>
          </a:xfrm>
          <a:prstGeom prst="roundRect">
            <a:avLst>
              <a:gd name="adj" fmla="val 23391"/>
            </a:avLst>
          </a:prstGeom>
          <a:noFill/>
          <a:ln>
            <a:noFill/>
          </a:ln>
        </p:spPr>
        <p:txBody>
          <a:bodyPr vert="horz" wrap="square" lIns="91440" tIns="45720" rIns="91440" bIns="45720" rtlCol="0" anchor="ctr" anchorCtr="0">
            <a:normAutofit/>
          </a:bodyPr>
          <a:lstStyle>
            <a:lvl1pPr marL="0" indent="0" algn="r">
              <a:lnSpc>
                <a:spcPct val="100000"/>
              </a:lnSpc>
              <a:buNone/>
              <a:defRPr lang="en-US" sz="2000" dirty="0">
                <a:solidFill>
                  <a:schemeClr val="tx1"/>
                </a:solidFill>
                <a:latin typeface="+mj-lt"/>
              </a:defRPr>
            </a:lvl1pPr>
          </a:lstStyle>
          <a:p>
            <a:pPr lvl="0"/>
            <a:r>
              <a:rPr lang="en-US"/>
              <a:t>Click to add subtitle</a:t>
            </a:r>
            <a:endParaRPr lang="en-US"/>
          </a:p>
        </p:txBody>
      </p:sp>
      <p:sp>
        <p:nvSpPr>
          <p:cNvPr id="4" name="Text Placeholder 3"/>
          <p:cNvSpPr>
            <a:spLocks noGrp="1"/>
          </p:cNvSpPr>
          <p:nvPr>
            <p:ph type="body" sz="quarter" idx="13" hasCustomPrompt="1"/>
          </p:nvPr>
        </p:nvSpPr>
        <p:spPr>
          <a:xfrm>
            <a:off x="9817099" y="5689603"/>
            <a:ext cx="1701801" cy="342899"/>
          </a:xfrm>
          <a:prstGeom prst="roundRect">
            <a:avLst/>
          </a:prstGeom>
          <a:noFill/>
        </p:spPr>
        <p:txBody>
          <a:bodyPr wrap="square" lIns="90000" anchor="ctr">
            <a:normAutofit/>
          </a:bodyPr>
          <a:lstStyle>
            <a:lvl1pPr marL="0" indent="0" algn="r">
              <a:lnSpc>
                <a:spcPct val="100000"/>
              </a:lnSpc>
              <a:buNone/>
              <a:defRPr sz="1200">
                <a:solidFill>
                  <a:schemeClr val="tx1"/>
                </a:solidFill>
              </a:defRPr>
            </a:lvl1pPr>
          </a:lstStyle>
          <a:p>
            <a:pPr lvl="0"/>
            <a:r>
              <a:rPr lang="en-US"/>
              <a:t>Presenter name</a:t>
            </a:r>
            <a:endParaRPr lang="en-US"/>
          </a:p>
        </p:txBody>
      </p:sp>
      <p:sp>
        <p:nvSpPr>
          <p:cNvPr id="7" name="Text Placeholder 6"/>
          <p:cNvSpPr>
            <a:spLocks noGrp="1"/>
          </p:cNvSpPr>
          <p:nvPr>
            <p:ph type="body" sz="quarter" idx="14" hasCustomPrompt="1"/>
          </p:nvPr>
        </p:nvSpPr>
        <p:spPr>
          <a:xfrm>
            <a:off x="7927653" y="5705286"/>
            <a:ext cx="1701801" cy="342899"/>
          </a:xfrm>
          <a:prstGeom prst="roundRect">
            <a:avLst/>
          </a:prstGeom>
          <a:noFill/>
          <a:ln>
            <a:noFill/>
          </a:ln>
        </p:spPr>
        <p:txBody>
          <a:bodyPr wrap="none" anchor="ctr">
            <a:normAutofit/>
          </a:bodyPr>
          <a:lstStyle>
            <a:lvl1pPr marL="0" indent="0" algn="r">
              <a:lnSpc>
                <a:spcPct val="100000"/>
              </a:lnSpc>
              <a:buNone/>
              <a:defRPr sz="1200">
                <a:solidFill>
                  <a:schemeClr val="tx1"/>
                </a:solidFill>
              </a:defRPr>
            </a:lvl1pPr>
          </a:lstStyle>
          <a:p>
            <a:pPr lvl="0"/>
            <a:r>
              <a:rPr lang="en-US"/>
              <a:t>www.officeplus.cn</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hasCustomPrompt="1"/>
          </p:nvPr>
        </p:nvSpPr>
        <p:spPr>
          <a:xfrm>
            <a:off x="660400" y="0"/>
            <a:ext cx="10858500" cy="1028700"/>
          </a:xfrm>
          <a:prstGeom prst="rect">
            <a:avLst/>
          </a:prstGeom>
        </p:spPr>
        <p:txBody>
          <a:bodyPr anchor="b" anchorCtr="0">
            <a:normAutofit/>
          </a:bodyPr>
          <a:lstStyle>
            <a:lvl1pPr>
              <a:lnSpc>
                <a:spcPct val="100000"/>
              </a:lnSpc>
              <a:defRPr>
                <a:solidFill>
                  <a:schemeClr val="tx1"/>
                </a:solidFill>
              </a:defRPr>
            </a:lvl1pPr>
          </a:lstStyle>
          <a:p>
            <a:pPr lvl="0"/>
            <a:r>
              <a:rPr lang="en-US" dirty="0"/>
              <a:t>Click to add title</a:t>
            </a:r>
            <a:endParaRPr lang="en-US" dirty="0"/>
          </a:p>
        </p:txBody>
      </p:sp>
      <p:sp>
        <p:nvSpPr>
          <p:cNvPr id="8" name="Content Placeholder 7"/>
          <p:cNvSpPr>
            <a:spLocks noGrp="1"/>
          </p:cNvSpPr>
          <p:nvPr>
            <p:ph idx="1" hasCustomPrompt="1"/>
          </p:nvPr>
        </p:nvSpPr>
        <p:spPr>
          <a:xfrm>
            <a:off x="660400" y="1092200"/>
            <a:ext cx="10858500" cy="5041900"/>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Date Placeholder 1"/>
          <p:cNvSpPr>
            <a:spLocks noGrp="1"/>
          </p:cNvSpPr>
          <p:nvPr>
            <p:ph type="dt" sz="half" idx="10"/>
          </p:nvPr>
        </p:nvSpPr>
        <p:spPr/>
        <p:txBody>
          <a:bodyPr/>
          <a:lstStyle/>
          <a:p>
            <a:fld id="{0D3978B1-822A-48DD-9412-1B7D6807ED91}" type="datetime1">
              <a:rPr lang="zh-CN" altLang="en-US" smtClean="0"/>
            </a:fld>
            <a:endParaRPr lang="zh-CN" altLang="en-US"/>
          </a:p>
        </p:txBody>
      </p:sp>
      <p:sp>
        <p:nvSpPr>
          <p:cNvPr id="3" name="Footer Placeholder 2"/>
          <p:cNvSpPr>
            <a:spLocks noGrp="1"/>
          </p:cNvSpPr>
          <p:nvPr>
            <p:ph type="ftr" sz="quarter" idx="11"/>
          </p:nvPr>
        </p:nvSpPr>
        <p:spPr/>
        <p:txBody>
          <a:bodyPr/>
          <a:lstStyle/>
          <a:p>
            <a:r>
              <a:rPr lang="en-US"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rotWithShape="0">
              <a:blip r:embed="rId2"/>
              <a:srcRect/>
              <a:stretch>
                <a:fillRect r="-36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sp>
          <p:nvSpPr>
            <p:cNvPr id="10" name="Rectangle 9"/>
            <p:cNvSpPr/>
            <p:nvPr/>
          </p:nvSpPr>
          <p:spPr>
            <a:xfrm>
              <a:off x="0" y="0"/>
              <a:ext cx="12192000" cy="6858000"/>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Title 6"/>
          <p:cNvSpPr>
            <a:spLocks noGrp="1"/>
          </p:cNvSpPr>
          <p:nvPr>
            <p:ph type="title" hasCustomPrompt="1"/>
          </p:nvPr>
        </p:nvSpPr>
        <p:spPr>
          <a:xfrm>
            <a:off x="660400" y="1500188"/>
            <a:ext cx="2836800" cy="914400"/>
          </a:xfrm>
          <a:prstGeom prst="rect">
            <a:avLst/>
          </a:prstGeom>
        </p:spPr>
        <p:txBody>
          <a:bodyPr wrap="none" anchor="t">
            <a:normAutofit/>
          </a:bodyPr>
          <a:lstStyle>
            <a:lvl1pPr algn="r">
              <a:lnSpc>
                <a:spcPct val="100000"/>
              </a:lnSpc>
              <a:defRPr sz="2800">
                <a:solidFill>
                  <a:schemeClr val="accent1"/>
                </a:solidFill>
              </a:defRPr>
            </a:lvl1pPr>
          </a:lstStyle>
          <a:p>
            <a:pPr lvl="0"/>
            <a:r>
              <a:rPr lang="en-US"/>
              <a:t>Agenda</a:t>
            </a:r>
            <a:endParaRPr lang="en-US"/>
          </a:p>
        </p:txBody>
      </p:sp>
      <p:sp>
        <p:nvSpPr>
          <p:cNvPr id="8" name="Content Placeholder 7"/>
          <p:cNvSpPr>
            <a:spLocks noGrp="1"/>
          </p:cNvSpPr>
          <p:nvPr>
            <p:ph sz="quarter" idx="1" hasCustomPrompt="1"/>
          </p:nvPr>
        </p:nvSpPr>
        <p:spPr>
          <a:xfrm>
            <a:off x="3746500" y="1500187"/>
            <a:ext cx="7772400" cy="4633200"/>
          </a:xfrm>
          <a:prstGeom prst="rect">
            <a:avLst/>
          </a:prstGeom>
        </p:spPr>
        <p:txBody>
          <a:bodyPr wrap="square">
            <a:normAutofit/>
          </a:bodyPr>
          <a:lstStyle>
            <a:lvl1pPr marL="457200" indent="-457200">
              <a:lnSpc>
                <a:spcPct val="130000"/>
              </a:lnSpc>
              <a:buFont typeface="+mj-lt"/>
              <a:buAutoNum type="arabicPeriod"/>
              <a:defRPr sz="2400" b="0">
                <a:solidFill>
                  <a:schemeClr val="tx1"/>
                </a:solidFill>
                <a:latin typeface="+mn-lt"/>
              </a:defRPr>
            </a:lvl1pPr>
          </a:lstStyle>
          <a:p>
            <a:pPr lvl="0"/>
            <a:r>
              <a:rPr lang="en-US"/>
              <a:t>Click to add text</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p:txBody>
          <a:bodyPr/>
          <a:lstStyle/>
          <a:p>
            <a:fld id="{2A27A813-B2FD-42E1-9222-83B574E99074}" type="datetime1">
              <a:rPr lang="zh-CN" altLang="en-US" smtClean="0"/>
            </a:fld>
            <a:endParaRPr lang="en-US" altLang="zh-CN"/>
          </a:p>
        </p:txBody>
      </p:sp>
      <p:sp>
        <p:nvSpPr>
          <p:cNvPr id="4" name="Footer Placeholder 3"/>
          <p:cNvSpPr>
            <a:spLocks noGrp="1"/>
          </p:cNvSpPr>
          <p:nvPr>
            <p:ph type="ftr" sz="quarter" idx="11"/>
          </p:nvPr>
        </p:nvSpPr>
        <p:spPr/>
        <p:txBody>
          <a:bodyPr/>
          <a:lstStyle/>
          <a:p>
            <a:r>
              <a:rPr lang="en-US" altLang="zh-CN"/>
              <a:t>OfficePLUS</a:t>
            </a:r>
            <a:endParaRPr lang="zh-CN" altLang="en-US"/>
          </a:p>
        </p:txBody>
      </p:sp>
      <p:sp>
        <p:nvSpPr>
          <p:cNvPr id="5" name="Slide Number Placeholder 4"/>
          <p:cNvSpPr>
            <a:spLocks noGrp="1"/>
          </p:cNvSpPr>
          <p:nvPr>
            <p:ph type="sldNum" sz="quarter" idx="12"/>
          </p:nvPr>
        </p:nvSpPr>
        <p:spPr/>
        <p:txBody>
          <a:bodyPr/>
          <a:lstStyle/>
          <a:p>
            <a:fld id="{7F65B630-C7FF-41C0-9923-C5E5E29EED81}" type="slidenum">
              <a:rPr lang="en-US" altLang="zh-CN" smtClean="0"/>
            </a:fld>
            <a:endParaRPr lang="en-US" altLang="zh-CN"/>
          </a:p>
        </p:txBody>
      </p:sp>
      <p:grpSp>
        <p:nvGrpSpPr>
          <p:cNvPr id="11" name="Group 10"/>
          <p:cNvGrpSpPr/>
          <p:nvPr/>
        </p:nvGrpSpPr>
        <p:grpSpPr>
          <a:xfrm>
            <a:off x="2626456" y="1500188"/>
            <a:ext cx="994563" cy="4634686"/>
            <a:chOff x="2626456" y="1500188"/>
            <a:chExt cx="994563" cy="4634686"/>
          </a:xfrm>
        </p:grpSpPr>
        <p:cxnSp>
          <p:nvCxnSpPr>
            <p:cNvPr id="12" name="Straight Connector 11"/>
            <p:cNvCxnSpPr/>
            <p:nvPr/>
          </p:nvCxnSpPr>
          <p:spPr>
            <a:xfrm>
              <a:off x="3621019" y="1500188"/>
              <a:ext cx="0" cy="4633913"/>
            </a:xfrm>
            <a:prstGeom prst="line">
              <a:avLst/>
            </a:prstGeom>
            <a:solidFill>
              <a:srgbClr val="FFCC00"/>
            </a:solidFill>
            <a:ln w="3175" cap="flat" cmpd="sng" algn="ctr">
              <a:solidFill>
                <a:schemeClr val="tx1">
                  <a:alpha val="50000"/>
                </a:schemeClr>
              </a:solidFill>
              <a:prstDash val="solid"/>
              <a:round/>
              <a:headEnd type="none" w="med" len="med"/>
              <a:tailEnd type="none" w="med" len="med"/>
            </a:ln>
            <a:effectLst/>
          </p:spPr>
        </p:cxnSp>
        <p:sp>
          <p:nvSpPr>
            <p:cNvPr id="13" name="Freeform: Shape 12"/>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1">
                <a:alpha val="15000"/>
              </a:schemeClr>
            </a:solidFill>
            <a:ln>
              <a:noFill/>
            </a:ln>
          </p:spPr>
          <p:txBody>
            <a:bodyPr/>
            <a:lstStyle/>
            <a:p>
              <a:endParaRPr lang="zh-CN" altLang="en-US">
                <a:cs typeface="+mn-ea"/>
                <a:sym typeface="+mn-lt"/>
              </a:endParaRPr>
            </a:p>
          </p:txBody>
        </p:sp>
      </p:gr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23688" y="0"/>
            <a:ext cx="12215688" cy="6858000"/>
            <a:chOff x="-23688" y="0"/>
            <a:chExt cx="12215688" cy="6858000"/>
          </a:xfrm>
        </p:grpSpPr>
        <p:grpSp>
          <p:nvGrpSpPr>
            <p:cNvPr id="3" name="Group 2"/>
            <p:cNvGrpSpPr/>
            <p:nvPr/>
          </p:nvGrpSpPr>
          <p:grpSpPr>
            <a:xfrm>
              <a:off x="-23688" y="599372"/>
              <a:ext cx="11458486" cy="6258628"/>
              <a:chOff x="-23688" y="599372"/>
              <a:chExt cx="11458486" cy="6258628"/>
            </a:xfrm>
          </p:grpSpPr>
          <p:sp>
            <p:nvSpPr>
              <p:cNvPr id="9" name="TextBox 8"/>
              <p:cNvSpPr txBox="1">
                <a:spLocks noChangeAspect="1"/>
              </p:cNvSpPr>
              <p:nvPr/>
            </p:nvSpPr>
            <p:spPr>
              <a:xfrm rot="18840464">
                <a:off x="11028508" y="4791728"/>
                <a:ext cx="406290" cy="406290"/>
              </a:xfrm>
              <a:prstGeom prst="roundRect">
                <a:avLst>
                  <a:gd name="adj" fmla="val 0"/>
                </a:avLst>
              </a:prstGeom>
              <a:solidFill>
                <a:schemeClr val="accent2"/>
              </a:solidFill>
            </p:spPr>
            <p:txBody>
              <a:bodyPr wrap="none" lIns="108000" tIns="108000" rIns="108000" bIns="108000" rtlCol="0" anchor="ctr" anchorCtr="0">
                <a:noAutofit/>
              </a:bodyPr>
              <a:lstStyle/>
              <a:p>
                <a:pPr algn="ctr"/>
                <a:endParaRPr kumimoji="1" lang="zh-CN" altLang="en-US" sz="2000" b="1">
                  <a:noFill/>
                  <a:latin typeface="Arial" panose="020B0604020202020204" pitchFamily="34" charset="0"/>
                  <a:ea typeface="微软雅黑" panose="020B0503020204020204" pitchFamily="34" charset="-122"/>
                  <a:sym typeface="Arial" panose="020B0604020202020204" pitchFamily="34" charset="0"/>
                </a:endParaRPr>
              </a:p>
            </p:txBody>
          </p:sp>
          <p:grpSp>
            <p:nvGrpSpPr>
              <p:cNvPr id="10" name="Group 9"/>
              <p:cNvGrpSpPr/>
              <p:nvPr/>
            </p:nvGrpSpPr>
            <p:grpSpPr>
              <a:xfrm>
                <a:off x="-23688" y="599372"/>
                <a:ext cx="6564188" cy="6258628"/>
                <a:chOff x="-23688" y="599372"/>
                <a:chExt cx="6564188" cy="6258628"/>
              </a:xfrm>
            </p:grpSpPr>
            <p:sp>
              <p:nvSpPr>
                <p:cNvPr id="11" name="Freeform: Shape 10"/>
                <p:cNvSpPr/>
                <p:nvPr/>
              </p:nvSpPr>
              <p:spPr>
                <a:xfrm flipH="1">
                  <a:off x="0" y="2760641"/>
                  <a:ext cx="6540500" cy="4097359"/>
                </a:xfrm>
                <a:custGeom>
                  <a:avLst/>
                  <a:gdLst>
                    <a:gd name="connsiteX0" fmla="*/ 4601591 w 6856446"/>
                    <a:gd name="connsiteY0" fmla="*/ 0 h 4295286"/>
                    <a:gd name="connsiteX1" fmla="*/ 0 w 6856446"/>
                    <a:gd name="connsiteY1" fmla="*/ 4295286 h 4295286"/>
                    <a:gd name="connsiteX2" fmla="*/ 6856446 w 6856446"/>
                    <a:gd name="connsiteY2" fmla="*/ 4295286 h 4295286"/>
                    <a:gd name="connsiteX3" fmla="*/ 6856446 w 6856446"/>
                    <a:gd name="connsiteY3" fmla="*/ 2104761 h 4295286"/>
                  </a:gdLst>
                  <a:ahLst/>
                  <a:cxnLst>
                    <a:cxn ang="0">
                      <a:pos x="connsiteX0" y="connsiteY0"/>
                    </a:cxn>
                    <a:cxn ang="0">
                      <a:pos x="connsiteX1" y="connsiteY1"/>
                    </a:cxn>
                    <a:cxn ang="0">
                      <a:pos x="connsiteX2" y="connsiteY2"/>
                    </a:cxn>
                    <a:cxn ang="0">
                      <a:pos x="connsiteX3" y="connsiteY3"/>
                    </a:cxn>
                  </a:cxnLst>
                  <a:rect l="l" t="t" r="r" b="b"/>
                  <a:pathLst>
                    <a:path w="6856446" h="4295286">
                      <a:moveTo>
                        <a:pt x="4601591" y="0"/>
                      </a:moveTo>
                      <a:lnTo>
                        <a:pt x="0" y="4295286"/>
                      </a:lnTo>
                      <a:lnTo>
                        <a:pt x="6856446" y="4295286"/>
                      </a:lnTo>
                      <a:lnTo>
                        <a:pt x="6856446" y="2104761"/>
                      </a:ln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Rectangle 11"/>
                <p:cNvSpPr/>
                <p:nvPr/>
              </p:nvSpPr>
              <p:spPr>
                <a:xfrm rot="2700000" flipH="1">
                  <a:off x="3071558" y="599372"/>
                  <a:ext cx="1277932" cy="12779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Diamond 12"/>
                <p:cNvSpPr/>
                <p:nvPr/>
              </p:nvSpPr>
              <p:spPr>
                <a:xfrm rot="5400000" flipH="1">
                  <a:off x="4954712" y="3344419"/>
                  <a:ext cx="1061593" cy="1061593"/>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Shape 13"/>
                <p:cNvSpPr/>
                <p:nvPr/>
              </p:nvSpPr>
              <p:spPr>
                <a:xfrm rot="2700000" flipH="1">
                  <a:off x="989836" y="1414588"/>
                  <a:ext cx="3634109" cy="3634108"/>
                </a:xfrm>
                <a:custGeom>
                  <a:avLst/>
                  <a:gdLst>
                    <a:gd name="connsiteX0" fmla="*/ 3361720 w 3809659"/>
                    <a:gd name="connsiteY0" fmla="*/ 2105974 h 3809658"/>
                    <a:gd name="connsiteX1" fmla="*/ 3361720 w 3809659"/>
                    <a:gd name="connsiteY1" fmla="*/ 3361719 h 3809658"/>
                    <a:gd name="connsiteX2" fmla="*/ 2114069 w 3809659"/>
                    <a:gd name="connsiteY2" fmla="*/ 3361719 h 3809658"/>
                    <a:gd name="connsiteX3" fmla="*/ 2114070 w 3809659"/>
                    <a:gd name="connsiteY3" fmla="*/ 2105974 h 3809658"/>
                    <a:gd name="connsiteX4" fmla="*/ 2948385 w 3809659"/>
                    <a:gd name="connsiteY4" fmla="*/ 0 h 3809658"/>
                    <a:gd name="connsiteX5" fmla="*/ 0 w 3809659"/>
                    <a:gd name="connsiteY5" fmla="*/ 0 h 3809658"/>
                    <a:gd name="connsiteX6" fmla="*/ 0 w 3809659"/>
                    <a:gd name="connsiteY6" fmla="*/ 3809658 h 3809658"/>
                    <a:gd name="connsiteX7" fmla="*/ 3809659 w 3809659"/>
                    <a:gd name="connsiteY7" fmla="*/ 3809658 h 3809658"/>
                    <a:gd name="connsiteX8" fmla="*/ 3809659 w 3809659"/>
                    <a:gd name="connsiteY8" fmla="*/ 1912480 h 3809658"/>
                    <a:gd name="connsiteX9" fmla="*/ 3803635 w 3809659"/>
                    <a:gd name="connsiteY9" fmla="*/ 1912480 h 3809658"/>
                    <a:gd name="connsiteX10" fmla="*/ 3803635 w 3809659"/>
                    <a:gd name="connsiteY10" fmla="*/ 1668501 h 3809658"/>
                    <a:gd name="connsiteX11" fmla="*/ 1669726 w 3809659"/>
                    <a:gd name="connsiteY11" fmla="*/ 1668501 h 3809658"/>
                    <a:gd name="connsiteX12" fmla="*/ 1669725 w 3809659"/>
                    <a:gd name="connsiteY12" fmla="*/ 3361719 h 3809658"/>
                    <a:gd name="connsiteX13" fmla="*/ 447939 w 3809659"/>
                    <a:gd name="connsiteY13" fmla="*/ 3361719 h 3809658"/>
                    <a:gd name="connsiteX14" fmla="*/ 447939 w 3809659"/>
                    <a:gd name="connsiteY14" fmla="*/ 447939 h 3809658"/>
                    <a:gd name="connsiteX15" fmla="*/ 2948385 w 3809659"/>
                    <a:gd name="connsiteY15" fmla="*/ 447939 h 3809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9659" h="3809658">
                      <a:moveTo>
                        <a:pt x="3361720" y="2105974"/>
                      </a:moveTo>
                      <a:lnTo>
                        <a:pt x="3361720" y="3361719"/>
                      </a:lnTo>
                      <a:lnTo>
                        <a:pt x="2114069" y="3361719"/>
                      </a:lnTo>
                      <a:lnTo>
                        <a:pt x="2114070" y="2105974"/>
                      </a:lnTo>
                      <a:close/>
                      <a:moveTo>
                        <a:pt x="2948385" y="0"/>
                      </a:moveTo>
                      <a:lnTo>
                        <a:pt x="0" y="0"/>
                      </a:lnTo>
                      <a:lnTo>
                        <a:pt x="0" y="3809658"/>
                      </a:lnTo>
                      <a:lnTo>
                        <a:pt x="3809659" y="3809658"/>
                      </a:lnTo>
                      <a:lnTo>
                        <a:pt x="3809659" y="1912480"/>
                      </a:lnTo>
                      <a:lnTo>
                        <a:pt x="3803635" y="1912480"/>
                      </a:lnTo>
                      <a:lnTo>
                        <a:pt x="3803635" y="1668501"/>
                      </a:lnTo>
                      <a:lnTo>
                        <a:pt x="1669726" y="1668501"/>
                      </a:lnTo>
                      <a:lnTo>
                        <a:pt x="1669725" y="3361719"/>
                      </a:lnTo>
                      <a:lnTo>
                        <a:pt x="447939" y="3361719"/>
                      </a:lnTo>
                      <a:lnTo>
                        <a:pt x="447939" y="447939"/>
                      </a:lnTo>
                      <a:lnTo>
                        <a:pt x="2948385" y="44793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5" name="Rectangle 14"/>
                <p:cNvSpPr/>
                <p:nvPr/>
              </p:nvSpPr>
              <p:spPr>
                <a:xfrm rot="18900000" flipH="1">
                  <a:off x="1577093" y="2005447"/>
                  <a:ext cx="2491002" cy="2491002"/>
                </a:xfrm>
                <a:prstGeom prst="rect">
                  <a:avLst/>
                </a:prstGeom>
                <a:blipFill rotWithShape="0">
                  <a:blip r:embed="rId2"/>
                  <a:srcRect/>
                  <a:stretch>
                    <a:fillRect l="-36430" r="-42010"/>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6" name="Freeform: Shape 15"/>
                <p:cNvSpPr/>
                <p:nvPr/>
              </p:nvSpPr>
              <p:spPr>
                <a:xfrm>
                  <a:off x="-23688" y="3912691"/>
                  <a:ext cx="1668102" cy="1807269"/>
                </a:xfrm>
                <a:custGeom>
                  <a:avLst/>
                  <a:gdLst>
                    <a:gd name="connsiteX0" fmla="*/ 764468 w 1668102"/>
                    <a:gd name="connsiteY0" fmla="*/ 0 h 1807269"/>
                    <a:gd name="connsiteX1" fmla="*/ 1668102 w 1668102"/>
                    <a:gd name="connsiteY1" fmla="*/ 903634 h 1807269"/>
                    <a:gd name="connsiteX2" fmla="*/ 764468 w 1668102"/>
                    <a:gd name="connsiteY2" fmla="*/ 1807269 h 1807269"/>
                    <a:gd name="connsiteX3" fmla="*/ 0 w 1668102"/>
                    <a:gd name="connsiteY3" fmla="*/ 1042801 h 1807269"/>
                    <a:gd name="connsiteX4" fmla="*/ 0 w 1668102"/>
                    <a:gd name="connsiteY4" fmla="*/ 764468 h 1807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102" h="1807269">
                      <a:moveTo>
                        <a:pt x="764468" y="0"/>
                      </a:moveTo>
                      <a:lnTo>
                        <a:pt x="1668102" y="903634"/>
                      </a:lnTo>
                      <a:lnTo>
                        <a:pt x="764468" y="1807269"/>
                      </a:lnTo>
                      <a:lnTo>
                        <a:pt x="0" y="1042801"/>
                      </a:lnTo>
                      <a:lnTo>
                        <a:pt x="0" y="76446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7" name="Freeform: Shape 6"/>
            <p:cNvSpPr/>
            <p:nvPr/>
          </p:nvSpPr>
          <p:spPr>
            <a:xfrm flipV="1">
              <a:off x="10692304" y="0"/>
              <a:ext cx="1499696" cy="749848"/>
            </a:xfrm>
            <a:custGeom>
              <a:avLst/>
              <a:gdLst>
                <a:gd name="connsiteX0" fmla="*/ 975586 w 1951172"/>
                <a:gd name="connsiteY0" fmla="*/ 0 h 975586"/>
                <a:gd name="connsiteX1" fmla="*/ 1951172 w 1951172"/>
                <a:gd name="connsiteY1" fmla="*/ 975586 h 975586"/>
                <a:gd name="connsiteX2" fmla="*/ 0 w 1951172"/>
                <a:gd name="connsiteY2" fmla="*/ 975586 h 975586"/>
              </a:gdLst>
              <a:ahLst/>
              <a:cxnLst>
                <a:cxn ang="0">
                  <a:pos x="connsiteX0" y="connsiteY0"/>
                </a:cxn>
                <a:cxn ang="0">
                  <a:pos x="connsiteX1" y="connsiteY1"/>
                </a:cxn>
                <a:cxn ang="0">
                  <a:pos x="connsiteX2" y="connsiteY2"/>
                </a:cxn>
              </a:cxnLst>
              <a:rect l="l" t="t" r="r" b="b"/>
              <a:pathLst>
                <a:path w="1951172" h="975586">
                  <a:moveTo>
                    <a:pt x="975586" y="0"/>
                  </a:moveTo>
                  <a:lnTo>
                    <a:pt x="1951172" y="975586"/>
                  </a:lnTo>
                  <a:lnTo>
                    <a:pt x="0" y="975586"/>
                  </a:ln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Title 4"/>
          <p:cNvSpPr>
            <a:spLocks noGrp="1"/>
          </p:cNvSpPr>
          <p:nvPr>
            <p:ph type="title" hasCustomPrompt="1"/>
          </p:nvPr>
        </p:nvSpPr>
        <p:spPr>
          <a:xfrm>
            <a:off x="6379492" y="2762340"/>
            <a:ext cx="5139407" cy="584775"/>
          </a:xfrm>
          <a:prstGeom prst="rect">
            <a:avLst/>
          </a:prstGeom>
        </p:spPr>
        <p:txBody>
          <a:bodyPr>
            <a:normAutofit/>
          </a:bodyPr>
          <a:lstStyle>
            <a:lvl1pPr algn="l">
              <a:lnSpc>
                <a:spcPct val="100000"/>
              </a:lnSpc>
              <a:defRPr sz="3200"/>
            </a:lvl1pPr>
          </a:lstStyle>
          <a:p>
            <a:pPr lvl="0"/>
            <a:r>
              <a:rPr lang="en-US"/>
              <a:t>Click to add title</a:t>
            </a:r>
            <a:endParaRPr lang="en-US"/>
          </a:p>
        </p:txBody>
      </p:sp>
      <p:sp>
        <p:nvSpPr>
          <p:cNvPr id="25" name="Text Placeholder 24"/>
          <p:cNvSpPr>
            <a:spLocks noGrp="1"/>
          </p:cNvSpPr>
          <p:nvPr>
            <p:ph type="body" sz="quarter" idx="1" hasCustomPrompt="1"/>
          </p:nvPr>
        </p:nvSpPr>
        <p:spPr>
          <a:xfrm>
            <a:off x="6379492" y="3358969"/>
            <a:ext cx="5139407" cy="1104991"/>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en-US"/>
              <a:t>Click to add text</a:t>
            </a:r>
            <a:endParaRPr lang="en-US"/>
          </a:p>
        </p:txBody>
      </p:sp>
      <p:sp>
        <p:nvSpPr>
          <p:cNvPr id="4" name="Date Placeholder 3"/>
          <p:cNvSpPr>
            <a:spLocks noGrp="1"/>
          </p:cNvSpPr>
          <p:nvPr>
            <p:ph type="dt" sz="half" idx="10"/>
          </p:nvPr>
        </p:nvSpPr>
        <p:spPr/>
        <p:txBody>
          <a:bodyPr/>
          <a:lstStyle/>
          <a:p>
            <a:fld id="{2A27A813-B2FD-42E1-9222-83B574E99074}" type="datetime1">
              <a:rPr lang="zh-CN" altLang="en-US" smtClean="0"/>
            </a:fld>
            <a:endParaRPr lang="en-US" altLang="zh-CN"/>
          </a:p>
        </p:txBody>
      </p:sp>
      <p:sp>
        <p:nvSpPr>
          <p:cNvPr id="6" name="Footer Placeholder 5"/>
          <p:cNvSpPr>
            <a:spLocks noGrp="1"/>
          </p:cNvSpPr>
          <p:nvPr>
            <p:ph type="ftr" sz="quarter" idx="11"/>
          </p:nvPr>
        </p:nvSpPr>
        <p:spPr/>
        <p:txBody>
          <a:bodyPr/>
          <a:lstStyle/>
          <a:p>
            <a:r>
              <a:rPr lang="en-US" altLang="zh-CN"/>
              <a:t>OfficePLUS</a:t>
            </a:r>
            <a:endParaRPr lang="zh-CN" altLang="en-US"/>
          </a:p>
        </p:txBody>
      </p:sp>
      <p:sp>
        <p:nvSpPr>
          <p:cNvPr id="8" name="Slide Number Placeholder 7"/>
          <p:cNvSpPr>
            <a:spLocks noGrp="1"/>
          </p:cNvSpPr>
          <p:nvPr>
            <p:ph type="sldNum" sz="quarter" idx="12"/>
          </p:nvPr>
        </p:nvSpPr>
        <p:spPr/>
        <p:txBody>
          <a:bodyPr/>
          <a:lstStyle/>
          <a:p>
            <a:fld id="{7F65B630-C7FF-41C0-9923-C5E5E29EED81}"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grpSp>
        <p:nvGrpSpPr>
          <p:cNvPr id="5" name="Group 4"/>
          <p:cNvGrpSpPr/>
          <p:nvPr/>
        </p:nvGrpSpPr>
        <p:grpSpPr>
          <a:xfrm>
            <a:off x="0" y="0"/>
            <a:ext cx="12192000" cy="6858000"/>
            <a:chOff x="0" y="0"/>
            <a:chExt cx="12192000" cy="6858000"/>
          </a:xfrm>
        </p:grpSpPr>
        <p:sp>
          <p:nvSpPr>
            <p:cNvPr id="6" name="Rectangle 5"/>
            <p:cNvSpPr/>
            <p:nvPr/>
          </p:nvSpPr>
          <p:spPr>
            <a:xfrm>
              <a:off x="0" y="0"/>
              <a:ext cx="12192000" cy="6858000"/>
            </a:xfrm>
            <a:prstGeom prst="rect">
              <a:avLst/>
            </a:prstGeom>
            <a:blipFill rotWithShape="0">
              <a:blip r:embed="rId2"/>
              <a:srcRect/>
              <a:stretch>
                <a:fillRect r="-36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8" name="Rectangle 7"/>
            <p:cNvSpPr/>
            <p:nvPr/>
          </p:nvSpPr>
          <p:spPr>
            <a:xfrm>
              <a:off x="0" y="0"/>
              <a:ext cx="12192000" cy="68580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9" name="Title 8"/>
          <p:cNvSpPr>
            <a:spLocks noGrp="1"/>
          </p:cNvSpPr>
          <p:nvPr>
            <p:ph type="title" hasCustomPrompt="1"/>
          </p:nvPr>
        </p:nvSpPr>
        <p:spPr>
          <a:xfrm>
            <a:off x="660400" y="0"/>
            <a:ext cx="10858500" cy="1028700"/>
          </a:xfrm>
          <a:prstGeom prst="rect">
            <a:avLst/>
          </a:prstGeom>
        </p:spPr>
        <p:txBody>
          <a:bodyPr anchor="b">
            <a:normAutofit/>
          </a:bodyPr>
          <a:lstStyle>
            <a:lvl1pPr>
              <a:lnSpc>
                <a:spcPct val="100000"/>
              </a:lnSpc>
              <a:defRPr>
                <a:solidFill>
                  <a:schemeClr val="accent1"/>
                </a:solidFill>
              </a:defRPr>
            </a:lvl1pPr>
          </a:lstStyle>
          <a:p>
            <a:pPr lvl="0"/>
            <a:r>
              <a:rPr lang="en-US"/>
              <a:t>Click to add title</a:t>
            </a:r>
            <a:endParaRPr lang="en-US"/>
          </a:p>
        </p:txBody>
      </p:sp>
      <p:sp>
        <p:nvSpPr>
          <p:cNvPr id="2" name="Date Placeholder 1"/>
          <p:cNvSpPr>
            <a:spLocks noGrp="1"/>
          </p:cNvSpPr>
          <p:nvPr>
            <p:ph type="dt" sz="half" idx="10"/>
          </p:nvPr>
        </p:nvSpPr>
        <p:spPr/>
        <p:txBody>
          <a:bodyPr/>
          <a:lstStyle/>
          <a:p>
            <a:fld id="{E2982A54-1ED4-49C6-8154-FC2019FF8FB3}" type="datetime1">
              <a:rPr lang="zh-CN" altLang="en-US" smtClean="0"/>
            </a:fld>
            <a:endParaRPr lang="zh-CN" altLang="en-US"/>
          </a:p>
        </p:txBody>
      </p:sp>
      <p:sp>
        <p:nvSpPr>
          <p:cNvPr id="3" name="Footer Placeholder 2"/>
          <p:cNvSpPr>
            <a:spLocks noGrp="1"/>
          </p:cNvSpPr>
          <p:nvPr>
            <p:ph type="ftr" sz="quarter" idx="11"/>
          </p:nvPr>
        </p:nvSpPr>
        <p:spPr/>
        <p:txBody>
          <a:bodyPr/>
          <a:lstStyle/>
          <a:p>
            <a:r>
              <a:rPr lang="en-US"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3D36A-0885-4071-9EF1-0FE4286E17CF}" type="datetime1">
              <a:rPr lang="zh-CN" altLang="en-US" smtClean="0"/>
            </a:fld>
            <a:endParaRPr lang="en-US"/>
          </a:p>
        </p:txBody>
      </p:sp>
      <p:sp>
        <p:nvSpPr>
          <p:cNvPr id="3" name="Footer Placeholder 2"/>
          <p:cNvSpPr>
            <a:spLocks noGrp="1"/>
          </p:cNvSpPr>
          <p:nvPr>
            <p:ph type="ftr" sz="quarter" idx="11"/>
          </p:nvPr>
        </p:nvSpPr>
        <p:spPr/>
        <p:txBody>
          <a:bodyPr/>
          <a:lstStyle/>
          <a:p>
            <a:r>
              <a:rPr lang="en-US"/>
              <a:t>OfficePLUS</a:t>
            </a:r>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Closing">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23688" y="0"/>
            <a:ext cx="12215688" cy="6858000"/>
            <a:chOff x="-23688" y="0"/>
            <a:chExt cx="12215688" cy="6858000"/>
          </a:xfrm>
        </p:grpSpPr>
        <p:grpSp>
          <p:nvGrpSpPr>
            <p:cNvPr id="3" name="Group 2"/>
            <p:cNvGrpSpPr/>
            <p:nvPr/>
          </p:nvGrpSpPr>
          <p:grpSpPr>
            <a:xfrm>
              <a:off x="-23688" y="599372"/>
              <a:ext cx="11458486" cy="6258628"/>
              <a:chOff x="-23688" y="599372"/>
              <a:chExt cx="11458486" cy="6258628"/>
            </a:xfrm>
          </p:grpSpPr>
          <p:sp>
            <p:nvSpPr>
              <p:cNvPr id="8" name="TextBox 7"/>
              <p:cNvSpPr txBox="1">
                <a:spLocks noChangeAspect="1"/>
              </p:cNvSpPr>
              <p:nvPr/>
            </p:nvSpPr>
            <p:spPr>
              <a:xfrm rot="18840464">
                <a:off x="11028508" y="4791728"/>
                <a:ext cx="406290" cy="406290"/>
              </a:xfrm>
              <a:prstGeom prst="roundRect">
                <a:avLst>
                  <a:gd name="adj" fmla="val 0"/>
                </a:avLst>
              </a:prstGeom>
              <a:solidFill>
                <a:schemeClr val="accent2"/>
              </a:solidFill>
            </p:spPr>
            <p:txBody>
              <a:bodyPr wrap="none" lIns="108000" tIns="108000" rIns="108000" bIns="108000" rtlCol="0" anchor="ctr" anchorCtr="0">
                <a:noAutofit/>
              </a:bodyPr>
              <a:lstStyle/>
              <a:p>
                <a:pPr algn="ctr"/>
                <a:endParaRPr kumimoji="1" lang="zh-CN" altLang="en-US" sz="2000" b="1">
                  <a:noFill/>
                  <a:latin typeface="Arial" panose="020B0604020202020204" pitchFamily="34" charset="0"/>
                  <a:ea typeface="微软雅黑" panose="020B0503020204020204" pitchFamily="34" charset="-122"/>
                  <a:sym typeface="Arial" panose="020B0604020202020204" pitchFamily="34" charset="0"/>
                </a:endParaRPr>
              </a:p>
            </p:txBody>
          </p:sp>
          <p:grpSp>
            <p:nvGrpSpPr>
              <p:cNvPr id="9" name="Group 8"/>
              <p:cNvGrpSpPr/>
              <p:nvPr/>
            </p:nvGrpSpPr>
            <p:grpSpPr>
              <a:xfrm>
                <a:off x="-23688" y="599372"/>
                <a:ext cx="6564188" cy="6258628"/>
                <a:chOff x="-23688" y="599372"/>
                <a:chExt cx="6564188" cy="6258628"/>
              </a:xfrm>
            </p:grpSpPr>
            <p:sp>
              <p:nvSpPr>
                <p:cNvPr id="10" name="Freeform: Shape 9"/>
                <p:cNvSpPr/>
                <p:nvPr/>
              </p:nvSpPr>
              <p:spPr>
                <a:xfrm flipH="1">
                  <a:off x="0" y="2760641"/>
                  <a:ext cx="6540500" cy="4097359"/>
                </a:xfrm>
                <a:custGeom>
                  <a:avLst/>
                  <a:gdLst>
                    <a:gd name="connsiteX0" fmla="*/ 4601591 w 6856446"/>
                    <a:gd name="connsiteY0" fmla="*/ 0 h 4295286"/>
                    <a:gd name="connsiteX1" fmla="*/ 0 w 6856446"/>
                    <a:gd name="connsiteY1" fmla="*/ 4295286 h 4295286"/>
                    <a:gd name="connsiteX2" fmla="*/ 6856446 w 6856446"/>
                    <a:gd name="connsiteY2" fmla="*/ 4295286 h 4295286"/>
                    <a:gd name="connsiteX3" fmla="*/ 6856446 w 6856446"/>
                    <a:gd name="connsiteY3" fmla="*/ 2104761 h 4295286"/>
                  </a:gdLst>
                  <a:ahLst/>
                  <a:cxnLst>
                    <a:cxn ang="0">
                      <a:pos x="connsiteX0" y="connsiteY0"/>
                    </a:cxn>
                    <a:cxn ang="0">
                      <a:pos x="connsiteX1" y="connsiteY1"/>
                    </a:cxn>
                    <a:cxn ang="0">
                      <a:pos x="connsiteX2" y="connsiteY2"/>
                    </a:cxn>
                    <a:cxn ang="0">
                      <a:pos x="connsiteX3" y="connsiteY3"/>
                    </a:cxn>
                  </a:cxnLst>
                  <a:rect l="l" t="t" r="r" b="b"/>
                  <a:pathLst>
                    <a:path w="6856446" h="4295286">
                      <a:moveTo>
                        <a:pt x="4601591" y="0"/>
                      </a:moveTo>
                      <a:lnTo>
                        <a:pt x="0" y="4295286"/>
                      </a:lnTo>
                      <a:lnTo>
                        <a:pt x="6856446" y="4295286"/>
                      </a:lnTo>
                      <a:lnTo>
                        <a:pt x="6856446" y="2104761"/>
                      </a:ln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Rectangle 10"/>
                <p:cNvSpPr/>
                <p:nvPr/>
              </p:nvSpPr>
              <p:spPr>
                <a:xfrm rot="2700000" flipH="1">
                  <a:off x="3071558" y="599372"/>
                  <a:ext cx="1277932" cy="12779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amond 11"/>
                <p:cNvSpPr/>
                <p:nvPr/>
              </p:nvSpPr>
              <p:spPr>
                <a:xfrm rot="5400000" flipH="1">
                  <a:off x="4954712" y="3344419"/>
                  <a:ext cx="1061593" cy="1061593"/>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Shape 12"/>
                <p:cNvSpPr/>
                <p:nvPr/>
              </p:nvSpPr>
              <p:spPr>
                <a:xfrm rot="2700000" flipH="1">
                  <a:off x="989836" y="1414588"/>
                  <a:ext cx="3634109" cy="3634108"/>
                </a:xfrm>
                <a:custGeom>
                  <a:avLst/>
                  <a:gdLst>
                    <a:gd name="connsiteX0" fmla="*/ 3361720 w 3809659"/>
                    <a:gd name="connsiteY0" fmla="*/ 2105974 h 3809658"/>
                    <a:gd name="connsiteX1" fmla="*/ 3361720 w 3809659"/>
                    <a:gd name="connsiteY1" fmla="*/ 3361719 h 3809658"/>
                    <a:gd name="connsiteX2" fmla="*/ 2114069 w 3809659"/>
                    <a:gd name="connsiteY2" fmla="*/ 3361719 h 3809658"/>
                    <a:gd name="connsiteX3" fmla="*/ 2114070 w 3809659"/>
                    <a:gd name="connsiteY3" fmla="*/ 2105974 h 3809658"/>
                    <a:gd name="connsiteX4" fmla="*/ 2948385 w 3809659"/>
                    <a:gd name="connsiteY4" fmla="*/ 0 h 3809658"/>
                    <a:gd name="connsiteX5" fmla="*/ 0 w 3809659"/>
                    <a:gd name="connsiteY5" fmla="*/ 0 h 3809658"/>
                    <a:gd name="connsiteX6" fmla="*/ 0 w 3809659"/>
                    <a:gd name="connsiteY6" fmla="*/ 3809658 h 3809658"/>
                    <a:gd name="connsiteX7" fmla="*/ 3809659 w 3809659"/>
                    <a:gd name="connsiteY7" fmla="*/ 3809658 h 3809658"/>
                    <a:gd name="connsiteX8" fmla="*/ 3809659 w 3809659"/>
                    <a:gd name="connsiteY8" fmla="*/ 1912480 h 3809658"/>
                    <a:gd name="connsiteX9" fmla="*/ 3803635 w 3809659"/>
                    <a:gd name="connsiteY9" fmla="*/ 1912480 h 3809658"/>
                    <a:gd name="connsiteX10" fmla="*/ 3803635 w 3809659"/>
                    <a:gd name="connsiteY10" fmla="*/ 1668501 h 3809658"/>
                    <a:gd name="connsiteX11" fmla="*/ 1669726 w 3809659"/>
                    <a:gd name="connsiteY11" fmla="*/ 1668501 h 3809658"/>
                    <a:gd name="connsiteX12" fmla="*/ 1669725 w 3809659"/>
                    <a:gd name="connsiteY12" fmla="*/ 3361719 h 3809658"/>
                    <a:gd name="connsiteX13" fmla="*/ 447939 w 3809659"/>
                    <a:gd name="connsiteY13" fmla="*/ 3361719 h 3809658"/>
                    <a:gd name="connsiteX14" fmla="*/ 447939 w 3809659"/>
                    <a:gd name="connsiteY14" fmla="*/ 447939 h 3809658"/>
                    <a:gd name="connsiteX15" fmla="*/ 2948385 w 3809659"/>
                    <a:gd name="connsiteY15" fmla="*/ 447939 h 3809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9659" h="3809658">
                      <a:moveTo>
                        <a:pt x="3361720" y="2105974"/>
                      </a:moveTo>
                      <a:lnTo>
                        <a:pt x="3361720" y="3361719"/>
                      </a:lnTo>
                      <a:lnTo>
                        <a:pt x="2114069" y="3361719"/>
                      </a:lnTo>
                      <a:lnTo>
                        <a:pt x="2114070" y="2105974"/>
                      </a:lnTo>
                      <a:close/>
                      <a:moveTo>
                        <a:pt x="2948385" y="0"/>
                      </a:moveTo>
                      <a:lnTo>
                        <a:pt x="0" y="0"/>
                      </a:lnTo>
                      <a:lnTo>
                        <a:pt x="0" y="3809658"/>
                      </a:lnTo>
                      <a:lnTo>
                        <a:pt x="3809659" y="3809658"/>
                      </a:lnTo>
                      <a:lnTo>
                        <a:pt x="3809659" y="1912480"/>
                      </a:lnTo>
                      <a:lnTo>
                        <a:pt x="3803635" y="1912480"/>
                      </a:lnTo>
                      <a:lnTo>
                        <a:pt x="3803635" y="1668501"/>
                      </a:lnTo>
                      <a:lnTo>
                        <a:pt x="1669726" y="1668501"/>
                      </a:lnTo>
                      <a:lnTo>
                        <a:pt x="1669725" y="3361719"/>
                      </a:lnTo>
                      <a:lnTo>
                        <a:pt x="447939" y="3361719"/>
                      </a:lnTo>
                      <a:lnTo>
                        <a:pt x="447939" y="447939"/>
                      </a:lnTo>
                      <a:lnTo>
                        <a:pt x="2948385" y="44793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4" name="Rectangle 13"/>
                <p:cNvSpPr/>
                <p:nvPr/>
              </p:nvSpPr>
              <p:spPr>
                <a:xfrm rot="18900000" flipH="1">
                  <a:off x="1577093" y="2005447"/>
                  <a:ext cx="2491002" cy="2491002"/>
                </a:xfrm>
                <a:prstGeom prst="rect">
                  <a:avLst/>
                </a:prstGeom>
                <a:blipFill rotWithShape="0">
                  <a:blip r:embed="rId2"/>
                  <a:srcRect/>
                  <a:stretch>
                    <a:fillRect l="-36430" r="-42010"/>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5" name="Freeform: Shape 14"/>
                <p:cNvSpPr/>
                <p:nvPr/>
              </p:nvSpPr>
              <p:spPr>
                <a:xfrm>
                  <a:off x="-23688" y="3912691"/>
                  <a:ext cx="1668102" cy="1807269"/>
                </a:xfrm>
                <a:custGeom>
                  <a:avLst/>
                  <a:gdLst>
                    <a:gd name="connsiteX0" fmla="*/ 764468 w 1668102"/>
                    <a:gd name="connsiteY0" fmla="*/ 0 h 1807269"/>
                    <a:gd name="connsiteX1" fmla="*/ 1668102 w 1668102"/>
                    <a:gd name="connsiteY1" fmla="*/ 903634 h 1807269"/>
                    <a:gd name="connsiteX2" fmla="*/ 764468 w 1668102"/>
                    <a:gd name="connsiteY2" fmla="*/ 1807269 h 1807269"/>
                    <a:gd name="connsiteX3" fmla="*/ 0 w 1668102"/>
                    <a:gd name="connsiteY3" fmla="*/ 1042801 h 1807269"/>
                    <a:gd name="connsiteX4" fmla="*/ 0 w 1668102"/>
                    <a:gd name="connsiteY4" fmla="*/ 764468 h 1807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102" h="1807269">
                      <a:moveTo>
                        <a:pt x="764468" y="0"/>
                      </a:moveTo>
                      <a:lnTo>
                        <a:pt x="1668102" y="903634"/>
                      </a:lnTo>
                      <a:lnTo>
                        <a:pt x="764468" y="1807269"/>
                      </a:lnTo>
                      <a:lnTo>
                        <a:pt x="0" y="1042801"/>
                      </a:lnTo>
                      <a:lnTo>
                        <a:pt x="0" y="76446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6" name="Freeform: Shape 5"/>
            <p:cNvSpPr/>
            <p:nvPr/>
          </p:nvSpPr>
          <p:spPr>
            <a:xfrm flipV="1">
              <a:off x="10692304" y="0"/>
              <a:ext cx="1499696" cy="749848"/>
            </a:xfrm>
            <a:custGeom>
              <a:avLst/>
              <a:gdLst>
                <a:gd name="connsiteX0" fmla="*/ 975586 w 1951172"/>
                <a:gd name="connsiteY0" fmla="*/ 0 h 975586"/>
                <a:gd name="connsiteX1" fmla="*/ 1951172 w 1951172"/>
                <a:gd name="connsiteY1" fmla="*/ 975586 h 975586"/>
                <a:gd name="connsiteX2" fmla="*/ 0 w 1951172"/>
                <a:gd name="connsiteY2" fmla="*/ 975586 h 975586"/>
              </a:gdLst>
              <a:ahLst/>
              <a:cxnLst>
                <a:cxn ang="0">
                  <a:pos x="connsiteX0" y="connsiteY0"/>
                </a:cxn>
                <a:cxn ang="0">
                  <a:pos x="connsiteX1" y="connsiteY1"/>
                </a:cxn>
                <a:cxn ang="0">
                  <a:pos x="connsiteX2" y="connsiteY2"/>
                </a:cxn>
              </a:cxnLst>
              <a:rect l="l" t="t" r="r" b="b"/>
              <a:pathLst>
                <a:path w="1951172" h="975586">
                  <a:moveTo>
                    <a:pt x="975586" y="0"/>
                  </a:moveTo>
                  <a:lnTo>
                    <a:pt x="1951172" y="975586"/>
                  </a:lnTo>
                  <a:lnTo>
                    <a:pt x="0" y="975586"/>
                  </a:ln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Title 4"/>
          <p:cNvSpPr>
            <a:spLocks noGrp="1"/>
          </p:cNvSpPr>
          <p:nvPr>
            <p:ph type="title" hasCustomPrompt="1"/>
          </p:nvPr>
        </p:nvSpPr>
        <p:spPr>
          <a:xfrm>
            <a:off x="4789714" y="1089025"/>
            <a:ext cx="6729186" cy="2734915"/>
          </a:xfrm>
          <a:prstGeom prst="rect">
            <a:avLst/>
          </a:prstGeom>
        </p:spPr>
        <p:txBody>
          <a:bodyPr wrap="square" anchor="b">
            <a:normAutofit/>
          </a:bodyPr>
          <a:lstStyle>
            <a:lvl1pPr algn="r">
              <a:lnSpc>
                <a:spcPct val="100000"/>
              </a:lnSpc>
              <a:defRPr sz="5400">
                <a:ln w="19050">
                  <a:noFill/>
                </a:ln>
                <a:solidFill>
                  <a:schemeClr val="tx1"/>
                </a:solidFill>
              </a:defRPr>
            </a:lvl1pPr>
          </a:lstStyle>
          <a:p>
            <a:pPr lvl="0"/>
            <a:r>
              <a:rPr lang="en-US"/>
              <a:t>Click to add title</a:t>
            </a:r>
            <a:endParaRPr lang="en-US"/>
          </a:p>
        </p:txBody>
      </p:sp>
      <p:sp>
        <p:nvSpPr>
          <p:cNvPr id="4" name="Text Placeholder 3"/>
          <p:cNvSpPr>
            <a:spLocks noGrp="1"/>
          </p:cNvSpPr>
          <p:nvPr>
            <p:ph type="body" sz="quarter" idx="13" hasCustomPrompt="1"/>
          </p:nvPr>
        </p:nvSpPr>
        <p:spPr>
          <a:xfrm>
            <a:off x="9820230" y="5857100"/>
            <a:ext cx="1698670" cy="276999"/>
          </a:xfrm>
          <a:prstGeom prst="rect">
            <a:avLst/>
          </a:prstGeom>
        </p:spPr>
        <p:txBody>
          <a:bodyPr wrap="square" lIns="90000">
            <a:normAutofit/>
          </a:bodyPr>
          <a:lstStyle>
            <a:lvl1pPr marL="0" indent="0" algn="r">
              <a:lnSpc>
                <a:spcPct val="100000"/>
              </a:lnSpc>
              <a:buNone/>
              <a:defRPr sz="1200"/>
            </a:lvl1pPr>
          </a:lstStyle>
          <a:p>
            <a:pPr lvl="0"/>
            <a:r>
              <a:rPr lang="en-US"/>
              <a:t>Presenter name</a:t>
            </a:r>
            <a:endParaRPr lang="en-US"/>
          </a:p>
        </p:txBody>
      </p:sp>
      <p:sp>
        <p:nvSpPr>
          <p:cNvPr id="7" name="Text Placeholder 6"/>
          <p:cNvSpPr>
            <a:spLocks noGrp="1"/>
          </p:cNvSpPr>
          <p:nvPr>
            <p:ph type="body" sz="quarter" idx="14" hasCustomPrompt="1"/>
          </p:nvPr>
        </p:nvSpPr>
        <p:spPr>
          <a:xfrm>
            <a:off x="7819103" y="5857101"/>
            <a:ext cx="1698670" cy="276999"/>
          </a:xfrm>
          <a:prstGeom prst="rect">
            <a:avLst/>
          </a:prstGeom>
        </p:spPr>
        <p:txBody>
          <a:bodyPr wrap="none">
            <a:normAutofit/>
          </a:bodyPr>
          <a:lstStyle>
            <a:lvl1pPr marL="0" indent="0" algn="r">
              <a:lnSpc>
                <a:spcPct val="100000"/>
              </a:lnSpc>
              <a:buNone/>
              <a:defRPr sz="1200"/>
            </a:lvl1pPr>
          </a:lstStyle>
          <a:p>
            <a:pPr lvl="0"/>
            <a:r>
              <a:rPr lang="en-US"/>
              <a:t>www.officeplus.cn</a:t>
            </a:r>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dirty="0"/>
              <a:t>Click to </a:t>
            </a:r>
            <a:r>
              <a:rPr lang="en-US" altLang="zh-CN" dirty="0"/>
              <a:t>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fld id="{E68AEBC5-1D0D-411D-9EE3-C6F41EFD080C}" type="datetime1">
              <a:rPr lang="zh-CN" altLang="en-US" smtClean="0"/>
            </a:fld>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OfficePLUS</a:t>
            </a:r>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6.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0.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3.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4.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5.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6.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7.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8.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9.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0.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2.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3.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4.xml"/><Relationship Id="rId2" Type="http://schemas.openxmlformats.org/officeDocument/2006/relationships/image" Target="../media/image4.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5.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6.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7.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8.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9.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0.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2.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3.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4.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5.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6.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7.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8.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9.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0.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1.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2.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3.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4.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5.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46.xml"/><Relationship Id="rId2" Type="http://schemas.openxmlformats.org/officeDocument/2006/relationships/image" Target="../media/image5.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47.xml"/><Relationship Id="rId2" Type="http://schemas.openxmlformats.org/officeDocument/2006/relationships/image" Target="../media/image6.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48.xml"/><Relationship Id="rId2" Type="http://schemas.openxmlformats.org/officeDocument/2006/relationships/image" Target="../media/image7.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9.xm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0.xml"/><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1.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2.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3.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4.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5.xml"/><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6.xml"/><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7.xml"/><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8.xml"/><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9.xml"/><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0.xml"/><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1.xml"/><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2.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3.xml"/><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4.xml"/><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5.xml"/><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6.xml"/><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7.xml"/><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8.xml"/><Relationship Id="rId1"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9.xml"/><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0.xml"/><Relationship Id="rId1"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1.xml"/><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2.xml"/><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3.xml"/><Relationship Id="rId1" Type="http://schemas.openxmlformats.org/officeDocument/2006/relationships/image" Target="../media/image2.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4.xml"/><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5.xml"/><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6.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7.xml"/><Relationship Id="rId1"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8.xml"/><Relationship Id="rId1" Type="http://schemas.openxmlformats.org/officeDocument/2006/relationships/image" Target="../media/image2.png"/></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tags" Target="../tags/tag79.xml"/><Relationship Id="rId1"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0.xml"/><Relationship Id="rId1" Type="http://schemas.openxmlformats.org/officeDocument/2006/relationships/image" Target="../media/image2.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81.xml"/><Relationship Id="rId2" Type="http://schemas.openxmlformats.org/officeDocument/2006/relationships/image" Target="../media/image8.png"/><Relationship Id="rId1" Type="http://schemas.openxmlformats.org/officeDocument/2006/relationships/image" Target="../media/image2.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82.xml"/><Relationship Id="rId2" Type="http://schemas.openxmlformats.org/officeDocument/2006/relationships/image" Target="../media/image9.png"/><Relationship Id="rId1" Type="http://schemas.openxmlformats.org/officeDocument/2006/relationships/image" Target="../media/image2.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3.xml"/><Relationship Id="rId1" Type="http://schemas.openxmlformats.org/officeDocument/2006/relationships/image" Target="../media/image2.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4.xml"/><Relationship Id="rId1"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5.xml"/><Relationship Id="rId1" Type="http://schemas.openxmlformats.org/officeDocument/2006/relationships/image" Target="../media/image2.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6.xml"/><Relationship Id="rId1" Type="http://schemas.openxmlformats.org/officeDocument/2006/relationships/image" Target="../media/image2.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7.xml"/><Relationship Id="rId1" Type="http://schemas.openxmlformats.org/officeDocument/2006/relationships/image" Target="../media/image2.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8.xml"/><Relationship Id="rId1" Type="http://schemas.openxmlformats.org/officeDocument/2006/relationships/image" Target="../media/image2.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9.xml"/><Relationship Id="rId1" Type="http://schemas.openxmlformats.org/officeDocument/2006/relationships/image" Target="../media/image2.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0.xml"/><Relationship Id="rId1" Type="http://schemas.openxmlformats.org/officeDocument/2006/relationships/image" Target="../media/image2.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1.xml"/><Relationship Id="rId1" Type="http://schemas.openxmlformats.org/officeDocument/2006/relationships/image" Target="../media/image2.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2.xml"/><Relationship Id="rId1" Type="http://schemas.openxmlformats.org/officeDocument/2006/relationships/image" Target="../media/image2.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3.xml"/><Relationship Id="rId1"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4.xml"/><Relationship Id="rId1" Type="http://schemas.openxmlformats.org/officeDocument/2006/relationships/image" Target="../media/image2.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5.xml"/><Relationship Id="rId1" Type="http://schemas.openxmlformats.org/officeDocument/2006/relationships/image" Target="../media/image2.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6.xml"/><Relationship Id="rId1" Type="http://schemas.openxmlformats.org/officeDocument/2006/relationships/image" Target="../media/image2.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7.xml"/><Relationship Id="rId1" Type="http://schemas.openxmlformats.org/officeDocument/2006/relationships/image" Target="../media/image2.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8.xml"/><Relationship Id="rId1" Type="http://schemas.openxmlformats.org/officeDocument/2006/relationships/image" Target="../media/image2.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9.xml"/><Relationship Id="rId1" Type="http://schemas.openxmlformats.org/officeDocument/2006/relationships/image" Target="../media/image2.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00.xml"/><Relationship Id="rId1"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01.xml"/><Relationship Id="rId1" Type="http://schemas.openxmlformats.org/officeDocument/2006/relationships/image" Target="../media/image2.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3.xml"/><Relationship Id="rId1" Type="http://schemas.openxmlformats.org/officeDocument/2006/relationships/tags" Target="../tags/tag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wrap="square">
            <a:normAutofit/>
          </a:bodyPr>
          <a:lstStyle/>
          <a:p>
            <a:r>
              <a:rPr lang="en-US" altLang="zh-CN" sz="6400" b="1" dirty="0">
                <a:solidFill>
                  <a:schemeClr val="accent1"/>
                </a:solidFill>
              </a:rPr>
              <a:t>Python</a:t>
            </a:r>
            <a:r>
              <a:rPr lang="zh-CN" altLang="en-US" sz="6400" b="1" dirty="0">
                <a:solidFill>
                  <a:schemeClr val="accent1"/>
                </a:solidFill>
              </a:rPr>
              <a:t>入门</a:t>
            </a:r>
            <a:endParaRPr lang="zh-CN" altLang="en-US" sz="6400" b="1" dirty="0">
              <a:solidFill>
                <a:schemeClr val="accent1"/>
              </a:solidFill>
            </a:endParaRPr>
          </a:p>
        </p:txBody>
      </p:sp>
      <p:sp>
        <p:nvSpPr>
          <p:cNvPr id="9" name="Subtitle 8"/>
          <p:cNvSpPr>
            <a:spLocks noGrp="1"/>
          </p:cNvSpPr>
          <p:nvPr>
            <p:ph type="subTitle" sz="quarter" idx="1"/>
          </p:nvPr>
        </p:nvSpPr>
        <p:spPr>
          <a:xfrm>
            <a:off x="6560185" y="3955415"/>
            <a:ext cx="4958715" cy="620395"/>
          </a:xfrm>
        </p:spPr>
        <p:txBody>
          <a:bodyPr wrap="square">
            <a:noAutofit/>
          </a:bodyPr>
          <a:lstStyle/>
          <a:p>
            <a:pPr lvl="0"/>
            <a:r>
              <a:rPr lang="zh-CN" altLang="en-US" sz="3600" b="1">
                <a:ln w="19050">
                  <a:noFill/>
                </a:ln>
                <a:solidFill>
                  <a:schemeClr val="accent1"/>
                </a:solidFill>
                <a:ea typeface="+mj-ea"/>
                <a:cs typeface="+mj-cs"/>
              </a:rPr>
              <a:t>习题100练</a:t>
            </a:r>
            <a:endParaRPr lang="zh-CN" altLang="en-US" sz="3600" b="1">
              <a:ln w="19050">
                <a:noFill/>
              </a:ln>
              <a:solidFill>
                <a:schemeClr val="accent1"/>
              </a:solidFill>
              <a:effectLst>
                <a:outerShdw blurRad="38100" dist="19050" dir="2700000" algn="tl" rotWithShape="0">
                  <a:schemeClr val="dk1">
                    <a:alpha val="40000"/>
                  </a:schemeClr>
                </a:outerShdw>
              </a:effectLst>
              <a:ea typeface="+mj-ea"/>
              <a:cs typeface="+mj-cs"/>
            </a:endParaRPr>
          </a:p>
        </p:txBody>
      </p:sp>
      <p:sp>
        <p:nvSpPr>
          <p:cNvPr id="3" name="文本框 2"/>
          <p:cNvSpPr txBox="1"/>
          <p:nvPr/>
        </p:nvSpPr>
        <p:spPr>
          <a:xfrm>
            <a:off x="9204960" y="4842510"/>
            <a:ext cx="1835150" cy="368300"/>
          </a:xfrm>
          <a:prstGeom prst="rect">
            <a:avLst/>
          </a:prstGeom>
          <a:noFill/>
        </p:spPr>
        <p:txBody>
          <a:bodyPr wrap="square" rtlCol="0">
            <a:spAutoFit/>
          </a:bodyPr>
          <a:p>
            <a:r>
              <a:rPr lang="zh-CN" altLang="en-US">
                <a:solidFill>
                  <a:schemeClr val="tx1"/>
                </a:solidFill>
                <a:effectLst>
                  <a:outerShdw blurRad="38100" dist="19050" dir="2700000" algn="tl" rotWithShape="0">
                    <a:schemeClr val="dk1">
                      <a:alpha val="40000"/>
                    </a:schemeClr>
                  </a:outerShdw>
                </a:effectLst>
              </a:rPr>
              <a:t>主讲老师：冰冰</a:t>
            </a:r>
            <a:endParaRPr lang="zh-CN" altLang="en-US">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定义两个整型变量，计算这两个变量的和，并将结果打印输出。</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001 </a:t>
            </a:r>
            <a:r>
              <a:rPr lang="zh-CN" altLang="en-US"/>
              <a:t>练</a:t>
            </a:r>
            <a:endParaRPr lang="zh-CN" altLang="en-US"/>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定义两个整型变量，比较它们的值，并打印</a:t>
            </a:r>
            <a:r>
              <a:rPr lang="zh-CN" altLang="en-US">
                <a:sym typeface="+mn-ea"/>
              </a:rPr>
              <a:t>比较结果。</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002 </a:t>
            </a:r>
            <a:r>
              <a:rPr lang="zh-CN" altLang="en-US"/>
              <a:t>练</a:t>
            </a:r>
            <a:endParaRPr lang="zh-CN" altLang="en-US"/>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编写一个程序，该程序用于计算从</a:t>
            </a:r>
            <a:r>
              <a:rPr lang="en-US" altLang="zh-CN">
                <a:sym typeface="+mn-ea"/>
              </a:rPr>
              <a:t> 1 </a:t>
            </a:r>
            <a:r>
              <a:rPr lang="zh-CN" altLang="en-US">
                <a:sym typeface="+mn-ea"/>
              </a:rPr>
              <a:t>到</a:t>
            </a:r>
            <a:r>
              <a:rPr lang="en-US" altLang="zh-CN">
                <a:sym typeface="+mn-ea"/>
              </a:rPr>
              <a:t> 100</a:t>
            </a:r>
            <a:r>
              <a:rPr lang="zh-CN" altLang="en-US">
                <a:sym typeface="+mn-ea"/>
              </a:rPr>
              <a:t>（包含</a:t>
            </a:r>
            <a:r>
              <a:rPr lang="en-US" altLang="zh-CN">
                <a:sym typeface="+mn-ea"/>
              </a:rPr>
              <a:t> 1 </a:t>
            </a:r>
            <a:r>
              <a:rPr lang="zh-CN" altLang="en-US">
                <a:sym typeface="+mn-ea"/>
              </a:rPr>
              <a:t>和</a:t>
            </a:r>
            <a:r>
              <a:rPr lang="en-US" altLang="zh-CN">
                <a:sym typeface="+mn-ea"/>
              </a:rPr>
              <a:t> 100</a:t>
            </a:r>
            <a:r>
              <a:rPr lang="zh-CN" altLang="en-US">
                <a:sym typeface="+mn-ea"/>
              </a:rPr>
              <a:t>）所有整数的和，并将结果打印出来。</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003 </a:t>
            </a:r>
            <a:r>
              <a:rPr lang="zh-CN" altLang="en-US"/>
              <a:t>练</a:t>
            </a:r>
            <a:endParaRPr lang="zh-CN" altLang="en-US"/>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有四个数字：</a:t>
            </a:r>
            <a:r>
              <a:rPr lang="en-US" altLang="zh-CN">
                <a:sym typeface="+mn-ea"/>
              </a:rPr>
              <a:t>1</a:t>
            </a:r>
            <a:r>
              <a:rPr lang="zh-CN" altLang="en-US">
                <a:sym typeface="+mn-ea"/>
              </a:rPr>
              <a:t>、</a:t>
            </a:r>
            <a:r>
              <a:rPr lang="en-US" altLang="zh-CN">
                <a:sym typeface="+mn-ea"/>
              </a:rPr>
              <a:t>2</a:t>
            </a:r>
            <a:r>
              <a:rPr lang="zh-CN" altLang="en-US">
                <a:sym typeface="+mn-ea"/>
              </a:rPr>
              <a:t>、</a:t>
            </a:r>
            <a:r>
              <a:rPr lang="en-US" altLang="zh-CN">
                <a:sym typeface="+mn-ea"/>
              </a:rPr>
              <a:t>3</a:t>
            </a:r>
            <a:r>
              <a:rPr lang="zh-CN" altLang="en-US">
                <a:sym typeface="+mn-ea"/>
              </a:rPr>
              <a:t>、</a:t>
            </a:r>
            <a:r>
              <a:rPr lang="en-US" altLang="zh-CN">
                <a:sym typeface="+mn-ea"/>
              </a:rPr>
              <a:t>4</a:t>
            </a:r>
            <a:r>
              <a:rPr lang="zh-CN" altLang="en-US">
                <a:sym typeface="+mn-ea"/>
              </a:rPr>
              <a:t>，统计能组成多少个互不相同且无重复数字的三位数？各是多少？</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004 </a:t>
            </a:r>
            <a:r>
              <a:rPr lang="zh-CN" altLang="en-US"/>
              <a:t>练</a:t>
            </a:r>
            <a:endParaRPr lang="zh-CN" altLang="en-US"/>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编写一个程序，该程序</a:t>
            </a:r>
            <a:r>
              <a:rPr lang="zh-CN" altLang="en-US">
                <a:sym typeface="+mn-ea"/>
              </a:rPr>
              <a:t>用于打印</a:t>
            </a:r>
            <a:r>
              <a:rPr lang="en-US" altLang="zh-CN">
                <a:sym typeface="+mn-ea"/>
              </a:rPr>
              <a:t> 9*9 </a:t>
            </a:r>
            <a:r>
              <a:rPr lang="zh-CN" altLang="en-US">
                <a:sym typeface="+mn-ea"/>
              </a:rPr>
              <a:t>乘法口诀表。</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005 </a:t>
            </a:r>
            <a:r>
              <a:rPr lang="zh-CN" altLang="en-US"/>
              <a:t>练</a:t>
            </a:r>
            <a:endParaRPr lang="zh-CN" altLang="en-US"/>
          </a:p>
        </p:txBody>
      </p:sp>
      <p:pic>
        <p:nvPicPr>
          <p:cNvPr id="4" name="图片 3" descr="QQ截图20250221162822"/>
          <p:cNvPicPr>
            <a:picLocks noChangeAspect="1"/>
          </p:cNvPicPr>
          <p:nvPr/>
        </p:nvPicPr>
        <p:blipFill>
          <a:blip r:embed="rId2"/>
          <a:stretch>
            <a:fillRect/>
          </a:stretch>
        </p:blipFill>
        <p:spPr>
          <a:xfrm>
            <a:off x="764540" y="2071370"/>
            <a:ext cx="9095105" cy="3107690"/>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编写一个程序，该程序用于找出</a:t>
            </a:r>
            <a:r>
              <a:rPr lang="zh-CN" altLang="en-US">
                <a:sym typeface="+mn-ea"/>
              </a:rPr>
              <a:t>并打印所有的水仙花数。</a:t>
            </a:r>
            <a:endParaRPr lang="zh-CN" altLang="en-US">
              <a:sym typeface="+mn-ea"/>
            </a:endParaRPr>
          </a:p>
          <a:p>
            <a:pPr algn="l"/>
            <a:endParaRPr lang="zh-CN" altLang="en-US">
              <a:sym typeface="+mn-ea"/>
            </a:endParaRPr>
          </a:p>
          <a:p>
            <a:pPr algn="l"/>
            <a:r>
              <a:rPr lang="zh-CN" altLang="en-US" b="1">
                <a:sym typeface="+mn-ea"/>
              </a:rPr>
              <a:t>水仙花数：</a:t>
            </a:r>
            <a:r>
              <a:rPr lang="zh-CN" altLang="en-US">
                <a:sym typeface="+mn-ea"/>
              </a:rPr>
              <a:t>指一个三位数，其各位数字立方和等于该数本身。如：</a:t>
            </a:r>
            <a:r>
              <a:rPr lang="en-US" altLang="zh-CN">
                <a:sym typeface="+mn-ea"/>
              </a:rPr>
              <a:t>1³ + 5³ + 3</a:t>
            </a:r>
            <a:r>
              <a:rPr lang="en-US" altLang="zh-CN">
                <a:sym typeface="+mn-ea"/>
              </a:rPr>
              <a:t>³ = 153</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006 </a:t>
            </a:r>
            <a:r>
              <a:rPr lang="zh-CN" altLang="en-US"/>
              <a:t>练</a:t>
            </a:r>
            <a:endParaRPr lang="zh-CN"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猴子第一天摘下若干个桃子，当即吃了一半，还不过瘾，又多吃了一个，第二天早上又将剩下的桃子吃掉一半，又多吃了一个。以后每天早上都吃了前一天剩下的一半零一个，到第</a:t>
            </a:r>
            <a:r>
              <a:rPr lang="en-US" altLang="zh-CN">
                <a:sym typeface="+mn-ea"/>
              </a:rPr>
              <a:t> 10 </a:t>
            </a:r>
            <a:r>
              <a:rPr lang="zh-CN" altLang="en-US">
                <a:sym typeface="+mn-ea"/>
              </a:rPr>
              <a:t>天早上想再吃时，见只剩下一个桃子了，求第一天共摘了多少个。</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007 </a:t>
            </a:r>
            <a:r>
              <a:rPr lang="zh-CN" altLang="en-US"/>
              <a:t>练</a:t>
            </a:r>
            <a:endParaRPr lang="zh-CN" altLang="en-US"/>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输入一行字符，分别统计出其中英文字母、空格、数字和其它字符的个数。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008 </a:t>
            </a:r>
            <a:r>
              <a:rPr lang="zh-CN" altLang="en-US"/>
              <a:t>练</a:t>
            </a:r>
            <a:endParaRPr lang="zh-CN" altLang="en-US"/>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2443480"/>
          </a:xfrm>
          <a:prstGeom prst="rect">
            <a:avLst/>
          </a:prstGeom>
          <a:noFill/>
        </p:spPr>
        <p:txBody>
          <a:bodyPr wrap="square" rtlCol="0">
            <a:spAutoFit/>
          </a:bodyPr>
          <a:p>
            <a:pPr algn="l">
              <a:lnSpc>
                <a:spcPct val="130000"/>
              </a:lnSpc>
            </a:pPr>
            <a:r>
              <a:rPr lang="zh-CN" altLang="en-US" b="1">
                <a:sym typeface="+mn-ea"/>
              </a:rPr>
              <a:t>需求：</a:t>
            </a:r>
            <a:r>
              <a:rPr lang="zh-CN" altLang="en-US">
                <a:sym typeface="+mn-ea"/>
              </a:rPr>
              <a:t>给定一个简单列表，对其元素进行排序。</a:t>
            </a:r>
            <a:endParaRPr lang="zh-CN" altLang="en-US">
              <a:sym typeface="+mn-ea"/>
            </a:endParaRPr>
          </a:p>
          <a:p>
            <a:pPr algn="l">
              <a:lnSpc>
                <a:spcPct val="180000"/>
              </a:lnSpc>
            </a:pPr>
            <a:r>
              <a:rPr lang="zh-CN" altLang="en-US" b="1">
                <a:sym typeface="+mn-ea"/>
              </a:rPr>
              <a:t>简单列表：</a:t>
            </a:r>
            <a:r>
              <a:rPr lang="zh-CN" altLang="en-US">
                <a:sym typeface="+mn-ea"/>
              </a:rPr>
              <a:t>元素类型不是复合类型</a:t>
            </a:r>
            <a:r>
              <a:rPr lang="en-US" altLang="zh-CN">
                <a:sym typeface="+mn-ea"/>
              </a:rPr>
              <a:t>(</a:t>
            </a:r>
            <a:r>
              <a:rPr lang="zh-CN" altLang="en-US">
                <a:sym typeface="+mn-ea"/>
              </a:rPr>
              <a:t>列表</a:t>
            </a:r>
            <a:r>
              <a:rPr lang="en-US" altLang="zh-CN">
                <a:sym typeface="+mn-ea"/>
              </a:rPr>
              <a:t>/</a:t>
            </a:r>
            <a:r>
              <a:rPr lang="zh-CN" altLang="en-US">
                <a:sym typeface="+mn-ea"/>
              </a:rPr>
              <a:t>元组</a:t>
            </a:r>
            <a:r>
              <a:rPr lang="en-US" altLang="zh-CN">
                <a:sym typeface="+mn-ea"/>
              </a:rPr>
              <a:t>/</a:t>
            </a:r>
            <a:r>
              <a:rPr lang="zh-CN" altLang="en-US">
                <a:sym typeface="+mn-ea"/>
              </a:rPr>
              <a:t>字典</a:t>
            </a:r>
            <a:r>
              <a:rPr lang="en-US" altLang="zh-CN">
                <a:sym typeface="+mn-ea"/>
              </a:rPr>
              <a:t>)</a:t>
            </a:r>
            <a:r>
              <a:rPr lang="zh-CN" altLang="en-US">
                <a:sym typeface="+mn-ea"/>
              </a:rPr>
              <a:t>。</a:t>
            </a:r>
            <a:endParaRPr lang="zh-CN" altLang="en-US">
              <a:sym typeface="+mn-ea"/>
            </a:endParaRPr>
          </a:p>
          <a:p>
            <a:pPr algn="l">
              <a:lnSpc>
                <a:spcPct val="180000"/>
              </a:lnSpc>
            </a:pPr>
            <a:r>
              <a:rPr lang="zh-CN" altLang="en-US" b="1">
                <a:sym typeface="+mn-ea"/>
              </a:rPr>
              <a:t>示例：</a:t>
            </a:r>
            <a:endParaRPr lang="zh-CN" altLang="en-US" b="1">
              <a:sym typeface="+mn-ea"/>
            </a:endParaRPr>
          </a:p>
          <a:p>
            <a:pPr algn="l">
              <a:lnSpc>
                <a:spcPct val="180000"/>
              </a:lnSpc>
            </a:pPr>
            <a:r>
              <a:rPr lang="en-US" altLang="zh-CN">
                <a:sym typeface="+mn-ea"/>
              </a:rPr>
              <a:t>    - </a:t>
            </a:r>
            <a:r>
              <a:rPr lang="zh-CN" altLang="en-US">
                <a:sym typeface="+mn-ea"/>
              </a:rPr>
              <a:t>形式</a:t>
            </a:r>
            <a:r>
              <a:rPr lang="en-US" altLang="zh-CN">
                <a:sym typeface="+mn-ea"/>
              </a:rPr>
              <a:t>1</a:t>
            </a:r>
            <a:r>
              <a:rPr lang="zh-CN" altLang="en-US">
                <a:sym typeface="+mn-ea"/>
              </a:rPr>
              <a:t>：</a:t>
            </a:r>
            <a:r>
              <a:rPr lang="en-US" altLang="zh-CN">
                <a:sym typeface="+mn-ea"/>
              </a:rPr>
              <a:t>[20, 50, 10, 40, 30]</a:t>
            </a:r>
            <a:endParaRPr lang="en-US" altLang="zh-CN">
              <a:sym typeface="+mn-ea"/>
            </a:endParaRPr>
          </a:p>
          <a:p>
            <a:pPr algn="l">
              <a:lnSpc>
                <a:spcPct val="180000"/>
              </a:lnSpc>
            </a:pPr>
            <a:r>
              <a:rPr lang="en-US" altLang="zh-CN">
                <a:sym typeface="+mn-ea"/>
              </a:rPr>
              <a:t>    - </a:t>
            </a:r>
            <a:r>
              <a:rPr lang="zh-CN" altLang="en-US">
                <a:sym typeface="+mn-ea"/>
              </a:rPr>
              <a:t>形式</a:t>
            </a:r>
            <a:r>
              <a:rPr lang="en-US" altLang="zh-CN">
                <a:sym typeface="+mn-ea"/>
              </a:rPr>
              <a:t>2</a:t>
            </a:r>
            <a:r>
              <a:rPr lang="zh-CN" altLang="en-US">
                <a:sym typeface="+mn-ea"/>
              </a:rPr>
              <a:t>：</a:t>
            </a:r>
            <a:r>
              <a:rPr lang="en-US" altLang="zh-CN">
                <a:sym typeface="+mn-ea"/>
              </a:rPr>
              <a:t>['bb', 'ee', 'aa', 'dd', 'cc']</a:t>
            </a:r>
            <a:endParaRPr lang="en-US" altLang="zh-CN">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009 </a:t>
            </a:r>
            <a:r>
              <a:rPr lang="zh-CN" altLang="en-US"/>
              <a:t>练</a:t>
            </a:r>
            <a:endParaRPr lang="zh-CN" altLang="en-US"/>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4133215"/>
          </a:xfrm>
          <a:prstGeom prst="rect">
            <a:avLst/>
          </a:prstGeom>
          <a:noFill/>
        </p:spPr>
        <p:txBody>
          <a:bodyPr wrap="square" rtlCol="0">
            <a:spAutoFit/>
          </a:bodyPr>
          <a:p>
            <a:pPr algn="l"/>
            <a:r>
              <a:rPr lang="zh-CN" altLang="en-US" b="1">
                <a:sym typeface="+mn-ea"/>
              </a:rPr>
              <a:t>需求：</a:t>
            </a:r>
            <a:r>
              <a:rPr lang="zh-CN" altLang="en-US">
                <a:sym typeface="+mn-ea"/>
              </a:rPr>
              <a:t>给定一个学生信息列表，根据学生的成绩进行排序。</a:t>
            </a:r>
            <a:endParaRPr lang="zh-CN" altLang="en-US">
              <a:sym typeface="+mn-ea"/>
            </a:endParaRPr>
          </a:p>
          <a:p>
            <a:pPr algn="l">
              <a:lnSpc>
                <a:spcPct val="170000"/>
              </a:lnSpc>
            </a:pPr>
            <a:r>
              <a:rPr lang="zh-CN" altLang="en-US" b="1">
                <a:sym typeface="+mn-ea"/>
              </a:rPr>
              <a:t>学生成绩数据格式：</a:t>
            </a:r>
            <a:r>
              <a:rPr lang="zh-CN" altLang="en-US">
                <a:sym typeface="+mn-ea"/>
              </a:rPr>
              <a:t>复杂列表，元素是字典或者元组。</a:t>
            </a:r>
            <a:endParaRPr lang="zh-CN" altLang="en-US">
              <a:sym typeface="+mn-ea"/>
            </a:endParaRPr>
          </a:p>
          <a:p>
            <a:pPr algn="l">
              <a:lnSpc>
                <a:spcPct val="170000"/>
              </a:lnSpc>
            </a:pPr>
            <a:r>
              <a:rPr lang="zh-CN" altLang="en-US" b="1">
                <a:sym typeface="+mn-ea"/>
              </a:rPr>
              <a:t>示例：</a:t>
            </a:r>
            <a:endParaRPr lang="zh-CN" altLang="en-US" b="1">
              <a:sym typeface="+mn-ea"/>
            </a:endParaRPr>
          </a:p>
          <a:p>
            <a:pPr algn="l">
              <a:lnSpc>
                <a:spcPct val="170000"/>
              </a:lnSpc>
            </a:pPr>
            <a:r>
              <a:rPr lang="en-US" altLang="zh-CN">
                <a:sym typeface="+mn-ea"/>
              </a:rPr>
              <a:t>[</a:t>
            </a:r>
            <a:endParaRPr lang="en-US" altLang="zh-CN">
              <a:sym typeface="+mn-ea"/>
            </a:endParaRPr>
          </a:p>
          <a:p>
            <a:pPr algn="l">
              <a:lnSpc>
                <a:spcPct val="170000"/>
              </a:lnSpc>
            </a:pPr>
            <a:r>
              <a:rPr lang="en-US" altLang="zh-CN">
                <a:sym typeface="+mn-ea"/>
              </a:rPr>
              <a:t>    {'sno': 101, 'sname': "</a:t>
            </a:r>
            <a:r>
              <a:rPr lang="zh-CN" altLang="en-US">
                <a:sym typeface="+mn-ea"/>
              </a:rPr>
              <a:t>小张</a:t>
            </a:r>
            <a:r>
              <a:rPr lang="en-US" altLang="zh-CN">
                <a:sym typeface="+mn-ea"/>
              </a:rPr>
              <a:t>", 'sgrade': 88},</a:t>
            </a:r>
            <a:endParaRPr lang="en-US" altLang="zh-CN">
              <a:sym typeface="+mn-ea"/>
            </a:endParaRPr>
          </a:p>
          <a:p>
            <a:pPr algn="l">
              <a:lnSpc>
                <a:spcPct val="170000"/>
              </a:lnSpc>
            </a:pPr>
            <a:r>
              <a:rPr lang="en-US" altLang="zh-CN">
                <a:sym typeface="+mn-ea"/>
              </a:rPr>
              <a:t>    {'sno': 102, 'sname': "</a:t>
            </a:r>
            <a:r>
              <a:rPr lang="zh-CN" altLang="en-US">
                <a:sym typeface="+mn-ea"/>
              </a:rPr>
              <a:t>小王</a:t>
            </a:r>
            <a:r>
              <a:rPr lang="en-US" altLang="zh-CN">
                <a:sym typeface="+mn-ea"/>
              </a:rPr>
              <a:t>", 'sgrade': 77},</a:t>
            </a:r>
            <a:endParaRPr lang="en-US" altLang="zh-CN">
              <a:sym typeface="+mn-ea"/>
            </a:endParaRPr>
          </a:p>
          <a:p>
            <a:pPr algn="l">
              <a:lnSpc>
                <a:spcPct val="170000"/>
              </a:lnSpc>
            </a:pPr>
            <a:r>
              <a:rPr lang="en-US" altLang="zh-CN">
                <a:sym typeface="+mn-ea"/>
              </a:rPr>
              <a:t>    {'sno': 103, 'sname': "</a:t>
            </a:r>
            <a:r>
              <a:rPr lang="zh-CN" altLang="en-US">
                <a:sym typeface="+mn-ea"/>
              </a:rPr>
              <a:t>小李</a:t>
            </a:r>
            <a:r>
              <a:rPr lang="en-US" altLang="zh-CN">
                <a:sym typeface="+mn-ea"/>
              </a:rPr>
              <a:t>", 'sgrade': 99},</a:t>
            </a:r>
            <a:endParaRPr lang="en-US" altLang="zh-CN">
              <a:sym typeface="+mn-ea"/>
            </a:endParaRPr>
          </a:p>
          <a:p>
            <a:pPr algn="l">
              <a:lnSpc>
                <a:spcPct val="170000"/>
              </a:lnSpc>
            </a:pPr>
            <a:r>
              <a:rPr lang="en-US" altLang="zh-CN">
                <a:sym typeface="+mn-ea"/>
              </a:rPr>
              <a:t>    {'sno': 104, 'sname': "</a:t>
            </a:r>
            <a:r>
              <a:rPr lang="zh-CN" altLang="en-US">
                <a:sym typeface="+mn-ea"/>
              </a:rPr>
              <a:t>小赵</a:t>
            </a:r>
            <a:r>
              <a:rPr lang="en-US" altLang="zh-CN">
                <a:sym typeface="+mn-ea"/>
              </a:rPr>
              <a:t>", 'sgrade': 66}</a:t>
            </a:r>
            <a:endParaRPr lang="en-US" altLang="zh-CN">
              <a:sym typeface="+mn-ea"/>
            </a:endParaRPr>
          </a:p>
          <a:p>
            <a:pPr algn="l">
              <a:lnSpc>
                <a:spcPct val="170000"/>
              </a:lnSpc>
            </a:pPr>
            <a:r>
              <a:rPr lang="en-US" altLang="zh-CN">
                <a:sym typeface="+mn-ea"/>
              </a:rPr>
              <a:t>]</a:t>
            </a:r>
            <a:endParaRPr lang="en-US" altLang="zh-CN">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010 </a:t>
            </a:r>
            <a:r>
              <a:rPr lang="zh-CN" altLang="en-US"/>
              <a:t>练</a:t>
            </a:r>
            <a:endParaRPr lang="zh-CN" altLang="en-US"/>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给定一个整数列表，计算并打印该列表中所有偶数的和。</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011 </a:t>
            </a:r>
            <a:r>
              <a:rPr lang="zh-CN" altLang="en-US"/>
              <a:t>练</a:t>
            </a:r>
            <a:endParaRPr lang="zh-CN" altLang="en-US"/>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给定一个字典，其中每个人的姓名作为键，对应的年龄作为值。请找出年龄最大者的姓名与年龄，并将其打印出来。</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012 </a:t>
            </a:r>
            <a:r>
              <a:rPr lang="zh-CN" altLang="en-US"/>
              <a:t>练</a:t>
            </a:r>
            <a:endParaRPr lang="zh-CN" altLang="en-US"/>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给定一个已排序的整数列表，要求输入一个数，并根据列表原有的排序规律将其插入到正确的位置上。</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013 </a:t>
            </a:r>
            <a:r>
              <a:rPr lang="zh-CN" altLang="en-US"/>
              <a:t>练</a:t>
            </a:r>
            <a:endParaRPr lang="zh-CN" altLang="en-US"/>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接收用户输入的三个数字，并按从小到大的顺序输出。</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014 </a:t>
            </a:r>
            <a:r>
              <a:rPr lang="zh-CN" altLang="en-US"/>
              <a:t>练</a:t>
            </a:r>
            <a:endParaRPr lang="zh-CN" altLang="en-US"/>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2084070"/>
          </a:xfrm>
          <a:prstGeom prst="rect">
            <a:avLst/>
          </a:prstGeom>
          <a:noFill/>
        </p:spPr>
        <p:txBody>
          <a:bodyPr wrap="square" rtlCol="0">
            <a:spAutoFit/>
          </a:bodyPr>
          <a:p>
            <a:pPr algn="l"/>
            <a:r>
              <a:rPr lang="zh-CN" altLang="en-US" b="1">
                <a:sym typeface="+mn-ea"/>
              </a:rPr>
              <a:t>需求：</a:t>
            </a:r>
            <a:r>
              <a:rPr lang="zh-CN" altLang="en-US">
                <a:sym typeface="+mn-ea"/>
              </a:rPr>
              <a:t>用户输入一个奇数，程序需要找到一个最小的由连续</a:t>
            </a:r>
            <a:r>
              <a:rPr lang="en-US" altLang="zh-CN">
                <a:sym typeface="+mn-ea"/>
              </a:rPr>
              <a:t> 9 </a:t>
            </a:r>
            <a:r>
              <a:rPr lang="zh-CN" altLang="en-US">
                <a:sym typeface="+mn-ea"/>
              </a:rPr>
              <a:t>组成的数（例如</a:t>
            </a:r>
            <a:r>
              <a:rPr lang="en-US" altLang="zh-CN">
                <a:sym typeface="+mn-ea"/>
              </a:rPr>
              <a:t> 9, 99, 999, 9999 </a:t>
            </a:r>
            <a:r>
              <a:rPr lang="zh-CN" altLang="en-US">
                <a:sym typeface="+mn-ea"/>
              </a:rPr>
              <a:t>等），这个数能被用户输入的奇数整除。输出这个最小的数以及它除以用户输入的奇数的结果。</a:t>
            </a:r>
            <a:endParaRPr lang="zh-CN" altLang="en-US">
              <a:sym typeface="+mn-ea"/>
            </a:endParaRPr>
          </a:p>
          <a:p>
            <a:pPr algn="l"/>
            <a:endParaRPr lang="zh-CN" altLang="en-US">
              <a:sym typeface="+mn-ea"/>
            </a:endParaRPr>
          </a:p>
          <a:p>
            <a:pPr algn="l">
              <a:lnSpc>
                <a:spcPct val="140000"/>
              </a:lnSpc>
            </a:pPr>
            <a:r>
              <a:rPr lang="zh-CN" altLang="en-US" b="1">
                <a:sym typeface="+mn-ea"/>
              </a:rPr>
              <a:t>示例：</a:t>
            </a:r>
            <a:endParaRPr lang="zh-CN" altLang="en-US" b="1">
              <a:sym typeface="+mn-ea"/>
            </a:endParaRPr>
          </a:p>
          <a:p>
            <a:pPr algn="l">
              <a:lnSpc>
                <a:spcPct val="140000"/>
              </a:lnSpc>
            </a:pPr>
            <a:r>
              <a:rPr lang="zh-CN" altLang="en-US" b="1">
                <a:sym typeface="+mn-ea"/>
              </a:rPr>
              <a:t> </a:t>
            </a:r>
            <a:r>
              <a:rPr lang="en-US" altLang="zh-CN" b="1">
                <a:sym typeface="+mn-ea"/>
              </a:rPr>
              <a:t>   </a:t>
            </a:r>
            <a:r>
              <a:rPr lang="en-US" altLang="zh-CN">
                <a:sym typeface="+mn-ea"/>
              </a:rPr>
              <a:t>- </a:t>
            </a:r>
            <a:r>
              <a:rPr lang="zh-CN" altLang="en-US">
                <a:sym typeface="+mn-ea"/>
              </a:rPr>
              <a:t>如果用户输入</a:t>
            </a:r>
            <a:r>
              <a:rPr lang="en-US" altLang="zh-CN">
                <a:sym typeface="+mn-ea"/>
              </a:rPr>
              <a:t> </a:t>
            </a:r>
            <a:r>
              <a:rPr lang="en-US" altLang="zh-CN">
                <a:solidFill>
                  <a:schemeClr val="accent2"/>
                </a:solidFill>
                <a:sym typeface="+mn-ea"/>
              </a:rPr>
              <a:t>3</a:t>
            </a:r>
            <a:r>
              <a:rPr lang="zh-CN" altLang="en-US">
                <a:sym typeface="+mn-ea"/>
              </a:rPr>
              <a:t>，程序应输出</a:t>
            </a:r>
            <a:r>
              <a:rPr lang="en-US" altLang="zh-CN">
                <a:sym typeface="+mn-ea"/>
              </a:rPr>
              <a:t> </a:t>
            </a:r>
            <a:r>
              <a:rPr lang="zh-CN" altLang="en-US">
                <a:solidFill>
                  <a:schemeClr val="accent2"/>
                </a:solidFill>
                <a:sym typeface="+mn-ea"/>
              </a:rPr>
              <a:t>最小的由</a:t>
            </a:r>
            <a:r>
              <a:rPr lang="en-US" altLang="zh-CN">
                <a:solidFill>
                  <a:schemeClr val="accent2"/>
                </a:solidFill>
                <a:sym typeface="+mn-ea"/>
              </a:rPr>
              <a:t> 1 </a:t>
            </a:r>
            <a:r>
              <a:rPr lang="zh-CN" altLang="en-US">
                <a:solidFill>
                  <a:schemeClr val="accent2"/>
                </a:solidFill>
                <a:sym typeface="+mn-ea"/>
              </a:rPr>
              <a:t>个</a:t>
            </a:r>
            <a:r>
              <a:rPr lang="en-US" altLang="zh-CN">
                <a:solidFill>
                  <a:schemeClr val="accent2"/>
                </a:solidFill>
                <a:sym typeface="+mn-ea"/>
              </a:rPr>
              <a:t> 9 </a:t>
            </a:r>
            <a:r>
              <a:rPr lang="zh-CN" altLang="en-US">
                <a:solidFill>
                  <a:schemeClr val="accent2"/>
                </a:solidFill>
                <a:sym typeface="+mn-ea"/>
              </a:rPr>
              <a:t>组成的数能被</a:t>
            </a:r>
            <a:r>
              <a:rPr lang="en-US" altLang="zh-CN">
                <a:solidFill>
                  <a:schemeClr val="accent2"/>
                </a:solidFill>
                <a:sym typeface="+mn-ea"/>
              </a:rPr>
              <a:t> 3 </a:t>
            </a:r>
            <a:r>
              <a:rPr lang="zh-CN" altLang="en-US">
                <a:solidFill>
                  <a:schemeClr val="accent2"/>
                </a:solidFill>
                <a:sym typeface="+mn-ea"/>
              </a:rPr>
              <a:t>整除</a:t>
            </a:r>
            <a:r>
              <a:rPr lang="en-US" altLang="zh-CN">
                <a:sym typeface="+mn-ea"/>
              </a:rPr>
              <a:t> </a:t>
            </a:r>
            <a:r>
              <a:rPr lang="zh-CN" altLang="en-US">
                <a:sym typeface="+mn-ea"/>
              </a:rPr>
              <a:t>以及</a:t>
            </a:r>
            <a:r>
              <a:rPr lang="en-US" altLang="zh-CN">
                <a:sym typeface="+mn-ea"/>
              </a:rPr>
              <a:t> </a:t>
            </a:r>
            <a:r>
              <a:rPr lang="en-US" altLang="zh-CN">
                <a:solidFill>
                  <a:schemeClr val="accent2"/>
                </a:solidFill>
                <a:sym typeface="+mn-ea"/>
              </a:rPr>
              <a:t>9 / 3 = 3.0</a:t>
            </a:r>
            <a:r>
              <a:rPr lang="zh-CN" altLang="en-US">
                <a:sym typeface="+mn-ea"/>
              </a:rPr>
              <a:t>。</a:t>
            </a:r>
            <a:endParaRPr lang="zh-CN" altLang="en-US">
              <a:sym typeface="+mn-ea"/>
            </a:endParaRPr>
          </a:p>
          <a:p>
            <a:pPr algn="l">
              <a:lnSpc>
                <a:spcPct val="140000"/>
              </a:lnSpc>
            </a:pPr>
            <a:r>
              <a:rPr lang="en-US" altLang="zh-CN">
                <a:sym typeface="+mn-ea"/>
              </a:rPr>
              <a:t>    - </a:t>
            </a:r>
            <a:r>
              <a:rPr lang="zh-CN" altLang="en-US">
                <a:sym typeface="+mn-ea"/>
              </a:rPr>
              <a:t>如果用户输入</a:t>
            </a:r>
            <a:r>
              <a:rPr lang="en-US" altLang="zh-CN">
                <a:sym typeface="+mn-ea"/>
              </a:rPr>
              <a:t> </a:t>
            </a:r>
            <a:r>
              <a:rPr lang="en-US" altLang="zh-CN">
                <a:solidFill>
                  <a:schemeClr val="accent2"/>
                </a:solidFill>
                <a:sym typeface="+mn-ea"/>
              </a:rPr>
              <a:t>11</a:t>
            </a:r>
            <a:r>
              <a:rPr lang="zh-CN" altLang="en-US">
                <a:sym typeface="+mn-ea"/>
              </a:rPr>
              <a:t>，程序应输出</a:t>
            </a:r>
            <a:r>
              <a:rPr lang="en-US" altLang="zh-CN">
                <a:sym typeface="+mn-ea"/>
              </a:rPr>
              <a:t> </a:t>
            </a:r>
            <a:r>
              <a:rPr lang="zh-CN" altLang="en-US">
                <a:solidFill>
                  <a:schemeClr val="accent2"/>
                </a:solidFill>
                <a:sym typeface="+mn-ea"/>
              </a:rPr>
              <a:t>最小的由</a:t>
            </a:r>
            <a:r>
              <a:rPr lang="en-US" altLang="zh-CN">
                <a:solidFill>
                  <a:schemeClr val="accent2"/>
                </a:solidFill>
                <a:sym typeface="+mn-ea"/>
              </a:rPr>
              <a:t> 2 </a:t>
            </a:r>
            <a:r>
              <a:rPr lang="zh-CN" altLang="en-US">
                <a:solidFill>
                  <a:schemeClr val="accent2"/>
                </a:solidFill>
                <a:sym typeface="+mn-ea"/>
              </a:rPr>
              <a:t>个</a:t>
            </a:r>
            <a:r>
              <a:rPr lang="en-US" altLang="zh-CN">
                <a:solidFill>
                  <a:schemeClr val="accent2"/>
                </a:solidFill>
                <a:sym typeface="+mn-ea"/>
              </a:rPr>
              <a:t> 9 </a:t>
            </a:r>
            <a:r>
              <a:rPr lang="zh-CN" altLang="en-US">
                <a:solidFill>
                  <a:schemeClr val="accent2"/>
                </a:solidFill>
                <a:sym typeface="+mn-ea"/>
              </a:rPr>
              <a:t>组成的数能被</a:t>
            </a:r>
            <a:r>
              <a:rPr lang="en-US" altLang="zh-CN">
                <a:solidFill>
                  <a:schemeClr val="accent2"/>
                </a:solidFill>
                <a:sym typeface="+mn-ea"/>
              </a:rPr>
              <a:t> 11 </a:t>
            </a:r>
            <a:r>
              <a:rPr lang="zh-CN" altLang="en-US">
                <a:solidFill>
                  <a:schemeClr val="accent2"/>
                </a:solidFill>
                <a:sym typeface="+mn-ea"/>
              </a:rPr>
              <a:t>整除</a:t>
            </a:r>
            <a:r>
              <a:rPr lang="en-US" altLang="zh-CN">
                <a:sym typeface="+mn-ea"/>
              </a:rPr>
              <a:t> </a:t>
            </a:r>
            <a:r>
              <a:rPr lang="zh-CN" altLang="en-US">
                <a:sym typeface="+mn-ea"/>
              </a:rPr>
              <a:t>以及</a:t>
            </a:r>
            <a:r>
              <a:rPr lang="en-US" altLang="zh-CN">
                <a:sym typeface="+mn-ea"/>
              </a:rPr>
              <a:t> </a:t>
            </a:r>
            <a:r>
              <a:rPr lang="en-US" altLang="zh-CN">
                <a:solidFill>
                  <a:schemeClr val="accent2"/>
                </a:solidFill>
                <a:sym typeface="+mn-ea"/>
              </a:rPr>
              <a:t>99 / 11 = 9.0</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015 </a:t>
            </a:r>
            <a:r>
              <a:rPr lang="zh-CN" altLang="en-US"/>
              <a:t>练</a:t>
            </a:r>
            <a:endParaRPr lang="zh-CN" altLang="en-US"/>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提示用户连续输入最多</a:t>
            </a:r>
            <a:r>
              <a:rPr lang="en-US" altLang="zh-CN">
                <a:sym typeface="+mn-ea"/>
              </a:rPr>
              <a:t> 7 </a:t>
            </a:r>
            <a:r>
              <a:rPr lang="zh-CN" altLang="en-US">
                <a:sym typeface="+mn-ea"/>
              </a:rPr>
              <a:t>个整数（每个数在</a:t>
            </a:r>
            <a:r>
              <a:rPr lang="en-US" altLang="zh-CN">
                <a:sym typeface="+mn-ea"/>
              </a:rPr>
              <a:t> 1 </a:t>
            </a:r>
            <a:r>
              <a:rPr lang="zh-CN" altLang="en-US">
                <a:sym typeface="+mn-ea"/>
              </a:rPr>
              <a:t>至</a:t>
            </a:r>
            <a:r>
              <a:rPr lang="en-US" altLang="zh-CN">
                <a:sym typeface="+mn-ea"/>
              </a:rPr>
              <a:t> 50 </a:t>
            </a:r>
            <a:r>
              <a:rPr lang="zh-CN" altLang="en-US">
                <a:sym typeface="+mn-ea"/>
              </a:rPr>
              <a:t>之间，包含</a:t>
            </a:r>
            <a:r>
              <a:rPr lang="en-US" altLang="zh-CN">
                <a:sym typeface="+mn-ea"/>
              </a:rPr>
              <a:t> 1 </a:t>
            </a:r>
            <a:r>
              <a:rPr lang="zh-CN" altLang="en-US">
                <a:sym typeface="+mn-ea"/>
              </a:rPr>
              <a:t>和</a:t>
            </a:r>
            <a:r>
              <a:rPr lang="en-US" altLang="zh-CN">
                <a:sym typeface="+mn-ea"/>
              </a:rPr>
              <a:t> 50</a:t>
            </a:r>
            <a:r>
              <a:rPr lang="zh-CN" altLang="en-US">
                <a:sym typeface="+mn-ea"/>
              </a:rPr>
              <a:t>）。对于每个有效输入（即在</a:t>
            </a:r>
            <a:r>
              <a:rPr lang="en-US" altLang="zh-CN">
                <a:sym typeface="+mn-ea"/>
              </a:rPr>
              <a:t> 1 </a:t>
            </a:r>
            <a:r>
              <a:rPr lang="zh-CN" altLang="en-US">
                <a:sym typeface="+mn-ea"/>
              </a:rPr>
              <a:t>至</a:t>
            </a:r>
            <a:r>
              <a:rPr lang="en-US" altLang="zh-CN">
                <a:sym typeface="+mn-ea"/>
              </a:rPr>
              <a:t> 50 </a:t>
            </a:r>
            <a:r>
              <a:rPr lang="zh-CN" altLang="en-US">
                <a:sym typeface="+mn-ea"/>
              </a:rPr>
              <a:t>之间的数），程序将打印该数个数的</a:t>
            </a:r>
            <a:r>
              <a:rPr lang="en-US" altLang="zh-CN">
                <a:sym typeface="+mn-ea"/>
              </a:rPr>
              <a:t> </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016 </a:t>
            </a:r>
            <a:r>
              <a:rPr lang="zh-CN" altLang="en-US"/>
              <a:t>练</a:t>
            </a:r>
            <a:endParaRPr lang="zh-CN" altLang="en-US"/>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用户输入一个数，判断该数是奇数还是偶数，并给出相应的输出结果。</a:t>
            </a:r>
            <a:endParaRPr lang="zh-CN" altLang="en-US">
              <a:sym typeface="+mn-ea"/>
            </a:endParaRPr>
          </a:p>
          <a:p>
            <a:pPr algn="l"/>
            <a:endParaRPr lang="zh-CN" altLang="en-US">
              <a:sym typeface="+mn-ea"/>
            </a:endParaRPr>
          </a:p>
          <a:p>
            <a:pPr algn="l"/>
            <a:r>
              <a:rPr lang="zh-CN" altLang="en-US" b="1">
                <a:sym typeface="+mn-ea"/>
              </a:rPr>
              <a:t>偶数：</a:t>
            </a:r>
            <a:r>
              <a:rPr lang="zh-CN" altLang="en-US">
                <a:sym typeface="+mn-ea"/>
              </a:rPr>
              <a:t>能够被</a:t>
            </a:r>
            <a:r>
              <a:rPr lang="en-US" altLang="zh-CN">
                <a:sym typeface="+mn-ea"/>
              </a:rPr>
              <a:t> 2 </a:t>
            </a:r>
            <a:r>
              <a:rPr lang="zh-CN" altLang="en-US">
                <a:sym typeface="+mn-ea"/>
              </a:rPr>
              <a:t>所整除的整数，是</a:t>
            </a:r>
            <a:r>
              <a:rPr lang="en-US" altLang="zh-CN">
                <a:sym typeface="+mn-ea"/>
              </a:rPr>
              <a:t> 2 </a:t>
            </a:r>
            <a:r>
              <a:rPr lang="zh-CN" altLang="en-US">
                <a:sym typeface="+mn-ea"/>
              </a:rPr>
              <a:t>的倍数。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017 </a:t>
            </a:r>
            <a:r>
              <a:rPr lang="zh-CN" altLang="en-US"/>
              <a:t>练</a:t>
            </a:r>
            <a:endParaRPr lang="zh-CN" altLang="en-US"/>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891665"/>
          </a:xfrm>
          <a:prstGeom prst="rect">
            <a:avLst/>
          </a:prstGeom>
          <a:noFill/>
        </p:spPr>
        <p:txBody>
          <a:bodyPr wrap="square" rtlCol="0">
            <a:spAutoFit/>
          </a:bodyPr>
          <a:p>
            <a:pPr algn="l"/>
            <a:r>
              <a:rPr lang="zh-CN" altLang="en-US" b="1">
                <a:sym typeface="+mn-ea"/>
              </a:rPr>
              <a:t>需求：</a:t>
            </a:r>
            <a:r>
              <a:rPr lang="zh-CN" altLang="en-US">
                <a:sym typeface="+mn-ea"/>
              </a:rPr>
              <a:t>用户输入年份，判断该年份是否为闰年，并给出相应的输出结果。</a:t>
            </a:r>
            <a:endParaRPr lang="zh-CN" altLang="en-US">
              <a:sym typeface="+mn-ea"/>
            </a:endParaRPr>
          </a:p>
          <a:p>
            <a:pPr algn="l"/>
            <a:endParaRPr lang="zh-CN" altLang="en-US">
              <a:sym typeface="+mn-ea"/>
            </a:endParaRPr>
          </a:p>
          <a:p>
            <a:pPr algn="l">
              <a:lnSpc>
                <a:spcPct val="150000"/>
              </a:lnSpc>
            </a:pPr>
            <a:r>
              <a:rPr lang="zh-CN" altLang="en-US" b="1">
                <a:sym typeface="+mn-ea"/>
              </a:rPr>
              <a:t>闰年：</a:t>
            </a:r>
            <a:endParaRPr lang="zh-CN" altLang="en-US" b="1">
              <a:sym typeface="+mn-ea"/>
            </a:endParaRPr>
          </a:p>
          <a:p>
            <a:pPr algn="l">
              <a:lnSpc>
                <a:spcPct val="150000"/>
              </a:lnSpc>
            </a:pPr>
            <a:r>
              <a:rPr lang="zh-CN" altLang="en-US" b="1">
                <a:sym typeface="+mn-ea"/>
              </a:rPr>
              <a:t> </a:t>
            </a:r>
            <a:r>
              <a:rPr lang="en-US" altLang="zh-CN" b="1">
                <a:sym typeface="+mn-ea"/>
              </a:rPr>
              <a:t>   </a:t>
            </a:r>
            <a:r>
              <a:rPr lang="en-US" altLang="zh-CN">
                <a:sym typeface="+mn-ea"/>
              </a:rPr>
              <a:t>1. </a:t>
            </a:r>
            <a:r>
              <a:rPr lang="zh-CN" altLang="en-US">
                <a:sym typeface="+mn-ea"/>
              </a:rPr>
              <a:t>如果一个年份能被</a:t>
            </a:r>
            <a:r>
              <a:rPr lang="en-US" altLang="zh-CN">
                <a:sym typeface="+mn-ea"/>
              </a:rPr>
              <a:t> 4 </a:t>
            </a:r>
            <a:r>
              <a:rPr lang="zh-CN" altLang="en-US">
                <a:sym typeface="+mn-ea"/>
              </a:rPr>
              <a:t>整除但不能被</a:t>
            </a:r>
            <a:r>
              <a:rPr lang="en-US" altLang="zh-CN">
                <a:sym typeface="+mn-ea"/>
              </a:rPr>
              <a:t> 100 </a:t>
            </a:r>
            <a:r>
              <a:rPr lang="zh-CN" altLang="en-US">
                <a:sym typeface="+mn-ea"/>
              </a:rPr>
              <a:t>整除，那么它是闰年。</a:t>
            </a:r>
            <a:endParaRPr lang="zh-CN" altLang="en-US">
              <a:sym typeface="+mn-ea"/>
            </a:endParaRPr>
          </a:p>
          <a:p>
            <a:pPr algn="l">
              <a:lnSpc>
                <a:spcPct val="150000"/>
              </a:lnSpc>
            </a:pPr>
            <a:r>
              <a:rPr lang="en-US" altLang="zh-CN">
                <a:sym typeface="+mn-ea"/>
              </a:rPr>
              <a:t>    2. </a:t>
            </a:r>
            <a:r>
              <a:rPr lang="zh-CN" altLang="en-US">
                <a:sym typeface="+mn-ea"/>
              </a:rPr>
              <a:t>如果一个年份能被</a:t>
            </a:r>
            <a:r>
              <a:rPr lang="en-US" altLang="zh-CN">
                <a:sym typeface="+mn-ea"/>
              </a:rPr>
              <a:t> 400 </a:t>
            </a:r>
            <a:r>
              <a:rPr lang="zh-CN" altLang="en-US">
                <a:sym typeface="+mn-ea"/>
              </a:rPr>
              <a:t>整除，那么它也是闰年。</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018 </a:t>
            </a:r>
            <a:r>
              <a:rPr lang="zh-CN" altLang="en-US"/>
              <a:t>练</a:t>
            </a:r>
            <a:endParaRPr lang="zh-CN" altLang="en-US"/>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用户输入一个数字，实现十进制向二进制、八进制、十六进制的转换功能，并打印出转换结果。</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019 </a:t>
            </a:r>
            <a:r>
              <a:rPr lang="zh-CN" altLang="en-US"/>
              <a:t>练</a:t>
            </a:r>
            <a:endParaRPr lang="zh-CN" altLang="en-US"/>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持续提示用户输入一个数字，并对该数字进行平方运算。如果平方运算结果小于</a:t>
            </a:r>
            <a:r>
              <a:rPr lang="en-US" altLang="zh-CN">
                <a:sym typeface="+mn-ea"/>
              </a:rPr>
              <a:t> 50</a:t>
            </a:r>
            <a:r>
              <a:rPr lang="zh-CN" altLang="en-US">
                <a:sym typeface="+mn-ea"/>
              </a:rPr>
              <a:t>，则停止输入。</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020 </a:t>
            </a:r>
            <a:r>
              <a:rPr lang="zh-CN" altLang="en-US"/>
              <a:t>练</a:t>
            </a:r>
            <a:endParaRPr lang="zh-CN" altLang="en-US"/>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编写一个程序，计算</a:t>
            </a:r>
            <a:r>
              <a:rPr lang="en-US" altLang="zh-CN">
                <a:sym typeface="+mn-ea"/>
              </a:rPr>
              <a:t> a + aa + aaa + aaaa + ... </a:t>
            </a:r>
            <a:r>
              <a:rPr lang="zh-CN" altLang="en-US">
                <a:sym typeface="+mn-ea"/>
              </a:rPr>
              <a:t>的值，其中</a:t>
            </a:r>
            <a:r>
              <a:rPr lang="en-US" altLang="zh-CN">
                <a:sym typeface="+mn-ea"/>
              </a:rPr>
              <a:t> a </a:t>
            </a:r>
            <a:r>
              <a:rPr lang="zh-CN" altLang="en-US">
                <a:sym typeface="+mn-ea"/>
              </a:rPr>
              <a:t>是一个数字，且加数的个数由键盘输入决定。例如，当</a:t>
            </a:r>
            <a:r>
              <a:rPr lang="en-US" altLang="zh-CN">
                <a:sym typeface="+mn-ea"/>
              </a:rPr>
              <a:t> a = 2 </a:t>
            </a:r>
            <a:r>
              <a:rPr lang="zh-CN" altLang="en-US">
                <a:sym typeface="+mn-ea"/>
              </a:rPr>
              <a:t>且共有</a:t>
            </a:r>
            <a:r>
              <a:rPr lang="en-US" altLang="zh-CN">
                <a:sym typeface="+mn-ea"/>
              </a:rPr>
              <a:t> 5 </a:t>
            </a:r>
            <a:r>
              <a:rPr lang="zh-CN" altLang="en-US">
                <a:sym typeface="+mn-ea"/>
              </a:rPr>
              <a:t>个数相加时，表达式为</a:t>
            </a:r>
            <a:r>
              <a:rPr lang="en-US" altLang="zh-CN">
                <a:sym typeface="+mn-ea"/>
              </a:rPr>
              <a:t> 2 + 22 + 222 + 2222 + 22222</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021 </a:t>
            </a:r>
            <a:r>
              <a:rPr lang="zh-CN" altLang="en-US"/>
              <a:t>练</a:t>
            </a:r>
            <a:endParaRPr lang="zh-CN" altLang="en-US"/>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476375"/>
          </a:xfrm>
          <a:prstGeom prst="rect">
            <a:avLst/>
          </a:prstGeom>
          <a:noFill/>
        </p:spPr>
        <p:txBody>
          <a:bodyPr wrap="square" rtlCol="0">
            <a:spAutoFit/>
          </a:bodyPr>
          <a:p>
            <a:pPr algn="l"/>
            <a:r>
              <a:rPr lang="zh-CN" altLang="en-US" b="1">
                <a:sym typeface="+mn-ea"/>
              </a:rPr>
              <a:t>需求：</a:t>
            </a:r>
            <a:r>
              <a:rPr lang="zh-CN" altLang="en-US">
                <a:sym typeface="+mn-ea"/>
              </a:rPr>
              <a:t>定义一个名为</a:t>
            </a:r>
            <a:r>
              <a:rPr lang="en-US" altLang="zh-CN">
                <a:sym typeface="+mn-ea"/>
              </a:rPr>
              <a:t> factorial </a:t>
            </a:r>
            <a:r>
              <a:rPr lang="zh-CN" altLang="en-US">
                <a:sym typeface="+mn-ea"/>
              </a:rPr>
              <a:t>的函数，该函数用于计算并返回给定整数的阶乘值。</a:t>
            </a:r>
            <a:endParaRPr lang="zh-CN" altLang="en-US">
              <a:sym typeface="+mn-ea"/>
            </a:endParaRPr>
          </a:p>
          <a:p>
            <a:pPr algn="l"/>
            <a:endParaRPr lang="zh-CN" altLang="en-US">
              <a:sym typeface="+mn-ea"/>
            </a:endParaRPr>
          </a:p>
          <a:p>
            <a:pPr algn="l"/>
            <a:r>
              <a:rPr lang="zh-CN" altLang="en-US" b="1">
                <a:sym typeface="+mn-ea"/>
              </a:rPr>
              <a:t>阶乘：</a:t>
            </a:r>
            <a:r>
              <a:rPr lang="zh-CN" altLang="en-US">
                <a:sym typeface="+mn-ea"/>
              </a:rPr>
              <a:t>一个正整数的阶乘是所有小于及等于该数的正整数的积，</a:t>
            </a:r>
            <a:r>
              <a:rPr lang="en-US" altLang="zh-CN">
                <a:sym typeface="+mn-ea"/>
              </a:rPr>
              <a:t>0 </a:t>
            </a:r>
            <a:r>
              <a:rPr lang="zh-CN" altLang="en-US">
                <a:sym typeface="+mn-ea"/>
              </a:rPr>
              <a:t>的阶乘为</a:t>
            </a:r>
            <a:r>
              <a:rPr lang="en-US" altLang="zh-CN">
                <a:sym typeface="+mn-ea"/>
              </a:rPr>
              <a:t> 1</a:t>
            </a:r>
            <a:r>
              <a:rPr lang="zh-CN" altLang="en-US">
                <a:sym typeface="+mn-ea"/>
              </a:rPr>
              <a:t>。</a:t>
            </a:r>
            <a:endParaRPr lang="zh-CN" altLang="en-US">
              <a:sym typeface="+mn-ea"/>
            </a:endParaRPr>
          </a:p>
          <a:p>
            <a:pPr algn="l"/>
            <a:endParaRPr lang="en-US" altLang="zh-CN">
              <a:sym typeface="+mn-ea"/>
            </a:endParaRPr>
          </a:p>
          <a:p>
            <a:pPr algn="l"/>
            <a:r>
              <a:rPr lang="zh-CN" altLang="en-US" b="1">
                <a:sym typeface="+mn-ea"/>
              </a:rPr>
              <a:t>示例：</a:t>
            </a:r>
            <a:r>
              <a:rPr lang="en-US" altLang="zh-CN">
                <a:sym typeface="+mn-ea"/>
              </a:rPr>
              <a:t>5 </a:t>
            </a:r>
            <a:r>
              <a:rPr lang="zh-CN" altLang="en-US">
                <a:sym typeface="+mn-ea"/>
              </a:rPr>
              <a:t>的阶乘：</a:t>
            </a:r>
            <a:r>
              <a:rPr lang="en-US" altLang="zh-CN">
                <a:sym typeface="+mn-ea"/>
              </a:rPr>
              <a:t>1*2*3*4*5</a:t>
            </a:r>
            <a:r>
              <a:rPr lang="zh-CN" altLang="en-US">
                <a:sym typeface="+mn-ea"/>
              </a:rPr>
              <a:t>；</a:t>
            </a:r>
            <a:r>
              <a:rPr lang="en-US" altLang="zh-CN">
                <a:sym typeface="+mn-ea"/>
              </a:rPr>
              <a:t>10 </a:t>
            </a:r>
            <a:r>
              <a:rPr lang="zh-CN" altLang="en-US">
                <a:sym typeface="+mn-ea"/>
              </a:rPr>
              <a:t>的阶乘：</a:t>
            </a:r>
            <a:r>
              <a:rPr lang="en-US" altLang="zh-CN">
                <a:sym typeface="+mn-ea"/>
              </a:rPr>
              <a:t>1*2*3*4*5*6*7*8*9*10</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022 </a:t>
            </a:r>
            <a:r>
              <a:rPr lang="zh-CN" altLang="en-US"/>
              <a:t>练</a:t>
            </a:r>
            <a:endParaRPr lang="zh-CN" altLang="en-US"/>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定义一个函数，该函数用于计算并返回给定半径的圆的面积</a:t>
            </a:r>
            <a:r>
              <a:rPr lang="en-US" altLang="zh-CN">
                <a:sym typeface="+mn-ea"/>
              </a:rPr>
              <a:t>(</a:t>
            </a:r>
            <a:r>
              <a:rPr lang="zh-CN" altLang="en-US">
                <a:sym typeface="+mn-ea"/>
              </a:rPr>
              <a:t>要求结果保留两位小数</a:t>
            </a:r>
            <a:r>
              <a:rPr lang="en-US" altLang="zh-CN">
                <a:sym typeface="+mn-ea"/>
              </a:rPr>
              <a:t>)</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023 </a:t>
            </a:r>
            <a:r>
              <a:rPr lang="zh-CN" altLang="en-US"/>
              <a:t>练</a:t>
            </a:r>
            <a:endParaRPr lang="zh-CN" altLang="en-US"/>
          </a:p>
        </p:txBody>
      </p:sp>
      <p:pic>
        <p:nvPicPr>
          <p:cNvPr id="4" name="图片 3" descr="G:/引流/assets/QQ截图20250118145311.pngQQ截图20250118145311"/>
          <p:cNvPicPr>
            <a:picLocks noChangeAspect="1"/>
          </p:cNvPicPr>
          <p:nvPr/>
        </p:nvPicPr>
        <p:blipFill>
          <a:blip r:embed="rId2"/>
          <a:srcRect/>
          <a:stretch>
            <a:fillRect/>
          </a:stretch>
        </p:blipFill>
        <p:spPr>
          <a:xfrm>
            <a:off x="742950" y="2421890"/>
            <a:ext cx="3848100" cy="2657475"/>
          </a:xfrm>
          <a:prstGeom prst="rect">
            <a:avLst/>
          </a:prstGeom>
        </p:spPr>
      </p:pic>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19888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定义一个函数，该函数用于打印指定范围内的所有素数。</a:t>
            </a:r>
            <a:endParaRPr lang="zh-CN" altLang="en-US">
              <a:sym typeface="+mn-ea"/>
            </a:endParaRPr>
          </a:p>
          <a:p>
            <a:pPr algn="l"/>
            <a:endParaRPr lang="zh-CN" altLang="en-US">
              <a:sym typeface="+mn-ea"/>
            </a:endParaRPr>
          </a:p>
          <a:p>
            <a:pPr algn="l"/>
            <a:r>
              <a:rPr lang="zh-CN" altLang="en-US" b="1">
                <a:sym typeface="+mn-ea"/>
              </a:rPr>
              <a:t>素数：</a:t>
            </a:r>
            <a:r>
              <a:rPr lang="zh-CN" altLang="en-US">
                <a:sym typeface="+mn-ea"/>
              </a:rPr>
              <a:t>一个大于</a:t>
            </a:r>
            <a:r>
              <a:rPr lang="en-US" altLang="zh-CN">
                <a:sym typeface="+mn-ea"/>
              </a:rPr>
              <a:t> 1 </a:t>
            </a:r>
            <a:r>
              <a:rPr lang="zh-CN" altLang="en-US">
                <a:sym typeface="+mn-ea"/>
              </a:rPr>
              <a:t>的自然数，除了</a:t>
            </a:r>
            <a:r>
              <a:rPr lang="en-US" altLang="zh-CN">
                <a:sym typeface="+mn-ea"/>
              </a:rPr>
              <a:t> 1 </a:t>
            </a:r>
            <a:r>
              <a:rPr lang="zh-CN" altLang="en-US">
                <a:sym typeface="+mn-ea"/>
              </a:rPr>
              <a:t>和它自身外，不能被其他自然数整除的数。比如</a:t>
            </a:r>
            <a:r>
              <a:rPr lang="en-US" altLang="zh-CN">
                <a:sym typeface="+mn-ea"/>
              </a:rPr>
              <a:t> 3 </a:t>
            </a:r>
            <a:r>
              <a:rPr lang="zh-CN" altLang="en-US">
                <a:sym typeface="+mn-ea"/>
              </a:rPr>
              <a:t>是素数，</a:t>
            </a:r>
            <a:r>
              <a:rPr lang="en-US" altLang="zh-CN">
                <a:sym typeface="+mn-ea"/>
              </a:rPr>
              <a:t>4 </a:t>
            </a:r>
            <a:r>
              <a:rPr lang="zh-CN" altLang="en-US">
                <a:sym typeface="+mn-ea"/>
              </a:rPr>
              <a:t>不是素数。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024 </a:t>
            </a:r>
            <a:r>
              <a:rPr lang="zh-CN" altLang="en-US"/>
              <a:t>练</a:t>
            </a:r>
            <a:endParaRPr lang="zh-CN" altLang="en-US"/>
          </a:p>
        </p:txBody>
      </p:sp>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定义一个函数，该函数用于计算从</a:t>
            </a:r>
            <a:r>
              <a:rPr lang="en-US" altLang="zh-CN">
                <a:sym typeface="+mn-ea"/>
              </a:rPr>
              <a:t> 1</a:t>
            </a:r>
            <a:r>
              <a:rPr lang="en-US" altLang="en-US">
                <a:sym typeface="+mn-ea"/>
              </a:rPr>
              <a:t>²</a:t>
            </a:r>
            <a:r>
              <a:rPr lang="en-US" altLang="zh-CN">
                <a:sym typeface="+mn-ea"/>
              </a:rPr>
              <a:t> </a:t>
            </a:r>
            <a:r>
              <a:rPr lang="zh-CN" altLang="en-US">
                <a:sym typeface="+mn-ea"/>
              </a:rPr>
              <a:t>到</a:t>
            </a:r>
            <a:r>
              <a:rPr lang="en-US" altLang="zh-CN">
                <a:sym typeface="+mn-ea"/>
              </a:rPr>
              <a:t> N</a:t>
            </a:r>
            <a:r>
              <a:rPr lang="en-US" altLang="en-US">
                <a:sym typeface="+mn-ea"/>
              </a:rPr>
              <a:t>²</a:t>
            </a:r>
            <a:r>
              <a:rPr lang="en-US" altLang="zh-CN">
                <a:sym typeface="+mn-ea"/>
              </a:rPr>
              <a:t> </a:t>
            </a:r>
            <a:r>
              <a:rPr lang="zh-CN" altLang="en-US">
                <a:sym typeface="+mn-ea"/>
              </a:rPr>
              <a:t>的所有整数的平方和。</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025 </a:t>
            </a:r>
            <a:r>
              <a:rPr lang="zh-CN" altLang="en-US"/>
              <a:t>练</a:t>
            </a:r>
            <a:endParaRPr lang="zh-CN" altLang="en-US"/>
          </a:p>
        </p:txBody>
      </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定义一个函数，该函数用于计算并返回给定数字列表中所有数字的总和。</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026 </a:t>
            </a:r>
            <a:r>
              <a:rPr lang="zh-CN" altLang="en-US"/>
              <a:t>练</a:t>
            </a:r>
            <a:endParaRPr lang="zh-CN" altLang="en-US"/>
          </a:p>
        </p:txBody>
      </p:sp>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定义一个函数，该函数用于返回指定范围内所有偶数的列表。</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027 </a:t>
            </a:r>
            <a:r>
              <a:rPr lang="zh-CN" altLang="en-US"/>
              <a:t>练</a:t>
            </a:r>
            <a:endParaRPr lang="zh-CN" altLang="en-US"/>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定义一个函数，该函数用于从第一个列表</a:t>
            </a:r>
            <a:r>
              <a:rPr lang="en-US" altLang="zh-CN">
                <a:sym typeface="+mn-ea"/>
              </a:rPr>
              <a:t> list1 </a:t>
            </a:r>
            <a:r>
              <a:rPr lang="zh-CN" altLang="en-US">
                <a:sym typeface="+mn-ea"/>
              </a:rPr>
              <a:t>中移除所有存在于第二个列表</a:t>
            </a:r>
            <a:r>
              <a:rPr lang="en-US" altLang="zh-CN">
                <a:sym typeface="+mn-ea"/>
              </a:rPr>
              <a:t> list2 </a:t>
            </a:r>
            <a:r>
              <a:rPr lang="zh-CN" altLang="en-US">
                <a:sym typeface="+mn-ea"/>
              </a:rPr>
              <a:t>中的元素。</a:t>
            </a:r>
            <a:endParaRPr lang="zh-CN" altLang="en-US">
              <a:sym typeface="+mn-ea"/>
            </a:endParaRPr>
          </a:p>
          <a:p>
            <a:pPr algn="l"/>
            <a:endParaRPr lang="zh-CN" altLang="en-US">
              <a:sym typeface="+mn-ea"/>
            </a:endParaRPr>
          </a:p>
          <a:p>
            <a:pPr algn="l"/>
            <a:r>
              <a:rPr lang="zh-CN" altLang="en-US" b="1">
                <a:sym typeface="+mn-ea"/>
              </a:rPr>
              <a:t>示例：</a:t>
            </a:r>
            <a:r>
              <a:rPr lang="zh-CN" altLang="en-US">
                <a:sym typeface="+mn-ea"/>
              </a:rPr>
              <a:t>原始列表：</a:t>
            </a:r>
            <a:r>
              <a:rPr lang="en-US" altLang="zh-CN">
                <a:sym typeface="+mn-ea"/>
              </a:rPr>
              <a:t>[3, 5, 7, 9, 11, 13]</a:t>
            </a:r>
            <a:r>
              <a:rPr lang="zh-CN" altLang="en-US">
                <a:sym typeface="+mn-ea"/>
              </a:rPr>
              <a:t>，移除元素列表：</a:t>
            </a:r>
            <a:r>
              <a:rPr lang="en-US" altLang="zh-CN">
                <a:sym typeface="+mn-ea"/>
              </a:rPr>
              <a:t>[7, 11]</a:t>
            </a:r>
            <a:r>
              <a:rPr lang="zh-CN" altLang="en-US">
                <a:sym typeface="+mn-ea"/>
              </a:rPr>
              <a:t>，移除后：</a:t>
            </a:r>
            <a:r>
              <a:rPr lang="en-US" altLang="zh-CN">
                <a:sym typeface="+mn-ea"/>
              </a:rPr>
              <a:t>[3, 5, 9, 13]</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028 </a:t>
            </a:r>
            <a:r>
              <a:rPr lang="zh-CN" altLang="en-US"/>
              <a:t>练</a:t>
            </a:r>
            <a:endParaRPr lang="zh-CN" altLang="en-US"/>
          </a:p>
        </p:txBody>
      </p:sp>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19888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定义一个函数，该函数用于对列表进行去重处理，并返回一个新的列表，其中不包含任何重复的元素。</a:t>
            </a:r>
            <a:endParaRPr lang="zh-CN" altLang="en-US">
              <a:sym typeface="+mn-ea"/>
            </a:endParaRPr>
          </a:p>
          <a:p>
            <a:pPr algn="l"/>
            <a:endParaRPr lang="en-US" altLang="zh-CN">
              <a:sym typeface="+mn-ea"/>
            </a:endParaRPr>
          </a:p>
          <a:p>
            <a:pPr algn="l"/>
            <a:r>
              <a:rPr lang="zh-CN" altLang="en-US" b="1">
                <a:sym typeface="+mn-ea"/>
              </a:rPr>
              <a:t>示例：</a:t>
            </a:r>
            <a:r>
              <a:rPr lang="zh-CN" altLang="en-US">
                <a:sym typeface="+mn-ea"/>
              </a:rPr>
              <a:t>原始列表：</a:t>
            </a:r>
            <a:r>
              <a:rPr lang="en-US" altLang="zh-CN">
                <a:sym typeface="+mn-ea"/>
              </a:rPr>
              <a:t>[10, 20, 30, 10, 20]</a:t>
            </a:r>
            <a:r>
              <a:rPr lang="zh-CN" altLang="en-US">
                <a:sym typeface="+mn-ea"/>
              </a:rPr>
              <a:t>，去重后：</a:t>
            </a:r>
            <a:r>
              <a:rPr lang="en-US" altLang="zh-CN">
                <a:sym typeface="+mn-ea"/>
              </a:rPr>
              <a:t>[10, 20, 30]</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029 </a:t>
            </a:r>
            <a:r>
              <a:rPr lang="zh-CN" altLang="en-US"/>
              <a:t>练</a:t>
            </a:r>
            <a:endParaRPr lang="zh-CN" altLang="en-US"/>
          </a:p>
        </p:txBody>
      </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定义一个函数，该函数用于实现两个变量值的互换操作。</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030 </a:t>
            </a:r>
            <a:r>
              <a:rPr lang="zh-CN" altLang="en-US"/>
              <a:t>练</a:t>
            </a:r>
            <a:endParaRPr lang="zh-CN" altLang="en-US"/>
          </a:p>
        </p:txBody>
      </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定义一个函数，该函数接收一个字典作为参数，并返回该字典中所有值的总和。</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031 </a:t>
            </a:r>
            <a:r>
              <a:rPr lang="zh-CN" altLang="en-US"/>
              <a:t>练</a:t>
            </a:r>
            <a:endParaRPr lang="zh-CN" altLang="en-US"/>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定义一个函数，该函数用于根据传入的整数</a:t>
            </a:r>
            <a:r>
              <a:rPr lang="en-US" altLang="zh-CN">
                <a:sym typeface="+mn-ea"/>
              </a:rPr>
              <a:t> n </a:t>
            </a:r>
            <a:r>
              <a:rPr lang="zh-CN" altLang="en-US">
                <a:sym typeface="+mn-ea"/>
              </a:rPr>
              <a:t>返回对应的倒数序列和：若</a:t>
            </a:r>
            <a:r>
              <a:rPr lang="en-US" altLang="zh-CN">
                <a:sym typeface="+mn-ea"/>
              </a:rPr>
              <a:t> n </a:t>
            </a:r>
            <a:r>
              <a:rPr lang="zh-CN" altLang="en-US">
                <a:sym typeface="+mn-ea"/>
              </a:rPr>
              <a:t>为偶数，则计算和</a:t>
            </a:r>
            <a:r>
              <a:rPr lang="en-US" altLang="zh-CN">
                <a:sym typeface="+mn-ea"/>
              </a:rPr>
              <a:t> 1/2 + 1/4 + ... + 1/n</a:t>
            </a:r>
            <a:r>
              <a:rPr lang="zh-CN" altLang="en-US">
                <a:sym typeface="+mn-ea"/>
              </a:rPr>
              <a:t>；若</a:t>
            </a:r>
            <a:r>
              <a:rPr lang="en-US" altLang="zh-CN">
                <a:sym typeface="+mn-ea"/>
              </a:rPr>
              <a:t> n </a:t>
            </a:r>
            <a:r>
              <a:rPr lang="zh-CN" altLang="en-US">
                <a:sym typeface="+mn-ea"/>
              </a:rPr>
              <a:t>为奇数，则计算和</a:t>
            </a:r>
            <a:r>
              <a:rPr lang="en-US" altLang="zh-CN">
                <a:sym typeface="+mn-ea"/>
              </a:rPr>
              <a:t> 1/1 + 1/3 + ... + 1/n</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032 </a:t>
            </a:r>
            <a:r>
              <a:rPr lang="zh-CN" altLang="en-US"/>
              <a:t>练</a:t>
            </a:r>
            <a:endParaRPr lang="zh-CN" altLang="en-US"/>
          </a:p>
        </p:txBody>
      </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定义一个函数，该函数接收年份、月份和日期作为参数，计算这一天是该年的第几天。</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033 </a:t>
            </a:r>
            <a:r>
              <a:rPr lang="zh-CN" altLang="en-US"/>
              <a:t>练</a:t>
            </a:r>
            <a:endParaRPr lang="zh-CN" altLang="en-US"/>
          </a:p>
        </p:txBody>
      </p:sp>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19888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定义一个函数，该函数用于计算斐波那契数列中的第</a:t>
            </a:r>
            <a:r>
              <a:rPr lang="en-US" altLang="zh-CN">
                <a:sym typeface="+mn-ea"/>
              </a:rPr>
              <a:t> n </a:t>
            </a:r>
            <a:r>
              <a:rPr lang="zh-CN" altLang="en-US">
                <a:sym typeface="+mn-ea"/>
              </a:rPr>
              <a:t>项。</a:t>
            </a:r>
            <a:br>
              <a:rPr lang="zh-CN" altLang="en-US">
                <a:sym typeface="+mn-ea"/>
              </a:rPr>
            </a:br>
            <a:endParaRPr lang="zh-CN" altLang="en-US">
              <a:sym typeface="+mn-ea"/>
            </a:endParaRPr>
          </a:p>
          <a:p>
            <a:pPr algn="l"/>
            <a:r>
              <a:rPr lang="zh-CN" altLang="en-US" b="1">
                <a:sym typeface="+mn-ea"/>
              </a:rPr>
              <a:t>斐波那契数列：</a:t>
            </a:r>
            <a:r>
              <a:rPr lang="zh-CN" altLang="en-US">
                <a:sym typeface="+mn-ea"/>
              </a:rPr>
              <a:t>数列的前两项均为</a:t>
            </a:r>
            <a:r>
              <a:rPr lang="en-US" altLang="zh-CN">
                <a:sym typeface="+mn-ea"/>
              </a:rPr>
              <a:t> 1</a:t>
            </a:r>
            <a:r>
              <a:rPr lang="zh-CN" altLang="en-US">
                <a:sym typeface="+mn-ea"/>
              </a:rPr>
              <a:t>，从第三项开始，每一项都是其前两项的和。如：</a:t>
            </a:r>
            <a:r>
              <a:rPr lang="en-US" altLang="zh-CN">
                <a:sym typeface="+mn-ea"/>
              </a:rPr>
              <a:t>1</a:t>
            </a:r>
            <a:r>
              <a:rPr lang="zh-CN" altLang="en-US">
                <a:sym typeface="+mn-ea"/>
              </a:rPr>
              <a:t>、</a:t>
            </a:r>
            <a:r>
              <a:rPr lang="en-US" altLang="zh-CN">
                <a:sym typeface="+mn-ea"/>
              </a:rPr>
              <a:t>1</a:t>
            </a:r>
            <a:r>
              <a:rPr lang="zh-CN" altLang="en-US">
                <a:sym typeface="+mn-ea"/>
              </a:rPr>
              <a:t>、</a:t>
            </a:r>
            <a:r>
              <a:rPr lang="en-US" altLang="zh-CN">
                <a:sym typeface="+mn-ea"/>
              </a:rPr>
              <a:t>2</a:t>
            </a:r>
            <a:r>
              <a:rPr lang="zh-CN" altLang="en-US">
                <a:sym typeface="+mn-ea"/>
              </a:rPr>
              <a:t>、</a:t>
            </a:r>
            <a:r>
              <a:rPr lang="en-US" altLang="zh-CN">
                <a:sym typeface="+mn-ea"/>
              </a:rPr>
              <a:t>3</a:t>
            </a:r>
            <a:r>
              <a:rPr lang="zh-CN" altLang="en-US">
                <a:sym typeface="+mn-ea"/>
              </a:rPr>
              <a:t>、</a:t>
            </a:r>
            <a:r>
              <a:rPr lang="en-US" altLang="zh-CN">
                <a:sym typeface="+mn-ea"/>
              </a:rPr>
              <a:t>5</a:t>
            </a:r>
            <a:r>
              <a:rPr lang="zh-CN" altLang="en-US">
                <a:sym typeface="+mn-ea"/>
              </a:rPr>
              <a:t>、</a:t>
            </a:r>
            <a:r>
              <a:rPr lang="en-US" altLang="zh-CN">
                <a:sym typeface="+mn-ea"/>
              </a:rPr>
              <a:t>8</a:t>
            </a:r>
            <a:r>
              <a:rPr lang="zh-CN" altLang="en-US">
                <a:sym typeface="+mn-ea"/>
              </a:rPr>
              <a:t>、</a:t>
            </a:r>
            <a:r>
              <a:rPr lang="en-US" altLang="zh-CN">
                <a:sym typeface="+mn-ea"/>
              </a:rPr>
              <a:t>13</a:t>
            </a:r>
            <a:r>
              <a:rPr lang="zh-CN" altLang="en-US">
                <a:sym typeface="+mn-ea"/>
              </a:rPr>
              <a:t>、</a:t>
            </a:r>
            <a:r>
              <a:rPr lang="en-US" altLang="zh-CN">
                <a:sym typeface="+mn-ea"/>
              </a:rPr>
              <a:t>21</a:t>
            </a:r>
            <a:r>
              <a:rPr lang="zh-CN" altLang="en-US">
                <a:sym typeface="+mn-ea"/>
              </a:rPr>
              <a:t>、</a:t>
            </a:r>
            <a:r>
              <a:rPr lang="en-US" altLang="zh-CN">
                <a:sym typeface="+mn-ea"/>
              </a:rPr>
              <a:t>34</a:t>
            </a:r>
            <a:r>
              <a:rPr lang="zh-CN" altLang="en-US">
                <a:sym typeface="+mn-ea"/>
              </a:rPr>
              <a:t>、</a:t>
            </a:r>
            <a:r>
              <a:rPr lang="en-US" altLang="zh-CN">
                <a:sym typeface="+mn-ea"/>
              </a:rPr>
              <a:t>...</a:t>
            </a:r>
            <a:endParaRPr lang="en-US" altLang="zh-CN">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034 </a:t>
            </a:r>
            <a:r>
              <a:rPr lang="zh-CN" altLang="en-US"/>
              <a:t>练</a:t>
            </a:r>
            <a:endParaRPr lang="zh-CN" altLang="en-US"/>
          </a:p>
        </p:txBody>
      </p:sp>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定义一个函数，该函数接收一个正整数</a:t>
            </a:r>
            <a:r>
              <a:rPr lang="en-US" altLang="zh-CN">
                <a:sym typeface="+mn-ea"/>
              </a:rPr>
              <a:t> n </a:t>
            </a:r>
            <a:r>
              <a:rPr lang="zh-CN" altLang="en-US">
                <a:sym typeface="+mn-ea"/>
              </a:rPr>
              <a:t>作为参数，并将其分解为质因数，打印出分解的结果。</a:t>
            </a:r>
            <a:endParaRPr lang="zh-CN" altLang="en-US">
              <a:sym typeface="+mn-ea"/>
            </a:endParaRPr>
          </a:p>
          <a:p>
            <a:pPr algn="l"/>
            <a:endParaRPr lang="zh-CN" altLang="en-US">
              <a:sym typeface="+mn-ea"/>
            </a:endParaRPr>
          </a:p>
          <a:p>
            <a:pPr algn="l"/>
            <a:r>
              <a:rPr lang="zh-CN" altLang="en-US" b="1">
                <a:sym typeface="+mn-ea"/>
              </a:rPr>
              <a:t>示例：</a:t>
            </a:r>
            <a:r>
              <a:rPr lang="zh-CN" altLang="en-US">
                <a:sym typeface="+mn-ea"/>
              </a:rPr>
              <a:t>传入数据</a:t>
            </a:r>
            <a:r>
              <a:rPr lang="en-US" altLang="zh-CN">
                <a:sym typeface="+mn-ea"/>
              </a:rPr>
              <a:t> 90</a:t>
            </a:r>
            <a:r>
              <a:rPr lang="zh-CN" altLang="en-US">
                <a:sym typeface="+mn-ea"/>
              </a:rPr>
              <a:t>，打印</a:t>
            </a:r>
            <a:r>
              <a:rPr lang="en-US" altLang="zh-CN">
                <a:sym typeface="+mn-ea"/>
              </a:rPr>
              <a:t> 90 = 2 * 3 * 3 * 5 </a:t>
            </a:r>
            <a:r>
              <a:rPr lang="zh-CN" altLang="en-US">
                <a:sym typeface="+mn-ea"/>
              </a:rPr>
              <a:t>作为质因数分解的结果。</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035 </a:t>
            </a:r>
            <a:r>
              <a:rPr lang="zh-CN" altLang="en-US"/>
              <a:t>练</a:t>
            </a:r>
            <a:endParaRPr lang="zh-CN" altLang="en-US"/>
          </a:p>
        </p:txBody>
      </p:sp>
    </p:spTree>
    <p:custDataLst>
      <p:tags r:id="rId2"/>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定义一个函数，该函数接收一个正整数参数</a:t>
            </a:r>
            <a:r>
              <a:rPr lang="en-US" altLang="zh-CN">
                <a:sym typeface="+mn-ea"/>
              </a:rPr>
              <a:t> rows</a:t>
            </a:r>
            <a:r>
              <a:rPr lang="zh-CN" altLang="en-US">
                <a:sym typeface="+mn-ea"/>
              </a:rPr>
              <a:t>，其功能是打印出一个由星号</a:t>
            </a:r>
            <a:r>
              <a:rPr lang="en-US" altLang="zh-CN">
                <a:sym typeface="+mn-ea"/>
              </a:rPr>
              <a:t> * </a:t>
            </a:r>
            <a:r>
              <a:rPr lang="zh-CN" altLang="en-US">
                <a:sym typeface="+mn-ea"/>
              </a:rPr>
              <a:t>构成的、具有</a:t>
            </a:r>
            <a:r>
              <a:rPr lang="en-US" altLang="zh-CN">
                <a:sym typeface="+mn-ea"/>
              </a:rPr>
              <a:t> rows </a:t>
            </a:r>
            <a:r>
              <a:rPr lang="zh-CN" altLang="en-US">
                <a:sym typeface="+mn-ea"/>
              </a:rPr>
              <a:t>指定行数的菱形图案。</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036 </a:t>
            </a:r>
            <a:r>
              <a:rPr lang="zh-CN" altLang="en-US"/>
              <a:t>练</a:t>
            </a:r>
            <a:endParaRPr lang="zh-CN" altLang="en-US"/>
          </a:p>
        </p:txBody>
      </p:sp>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19888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定义一个函数，该函数接收一个列表</a:t>
            </a:r>
            <a:r>
              <a:rPr lang="en-US" altLang="zh-CN">
                <a:sym typeface="+mn-ea"/>
              </a:rPr>
              <a:t> newList </a:t>
            </a:r>
            <a:r>
              <a:rPr lang="zh-CN" altLang="en-US">
                <a:sym typeface="+mn-ea"/>
              </a:rPr>
              <a:t>作为参数。函数的功能是交换该列表的第一个元素和最后一个元素，并返回交换后的列表。</a:t>
            </a:r>
            <a:endParaRPr lang="zh-CN" altLang="en-US">
              <a:sym typeface="+mn-ea"/>
            </a:endParaRPr>
          </a:p>
          <a:p>
            <a:pPr algn="l"/>
            <a:endParaRPr lang="zh-CN" altLang="en-US">
              <a:sym typeface="+mn-ea"/>
            </a:endParaRPr>
          </a:p>
          <a:p>
            <a:pPr algn="l"/>
            <a:r>
              <a:rPr lang="zh-CN" altLang="en-US" b="1">
                <a:sym typeface="+mn-ea"/>
              </a:rPr>
              <a:t>示例：</a:t>
            </a:r>
            <a:r>
              <a:rPr lang="zh-CN" altLang="en-US">
                <a:sym typeface="+mn-ea"/>
              </a:rPr>
              <a:t>给定列表</a:t>
            </a:r>
            <a:r>
              <a:rPr lang="en-US" altLang="zh-CN">
                <a:sym typeface="+mn-ea"/>
              </a:rPr>
              <a:t> newList = [1, 2, 3]</a:t>
            </a:r>
            <a:r>
              <a:rPr lang="zh-CN" altLang="en-US">
                <a:sym typeface="+mn-ea"/>
              </a:rPr>
              <a:t>，调用函数后，应打印出</a:t>
            </a:r>
            <a:r>
              <a:rPr lang="en-US" altLang="zh-CN">
                <a:sym typeface="+mn-ea"/>
              </a:rPr>
              <a:t> [3, 2, 1]</a:t>
            </a:r>
            <a:endParaRPr lang="en-US" altLang="zh-CN">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037 </a:t>
            </a:r>
            <a:r>
              <a:rPr lang="zh-CN" altLang="en-US"/>
              <a:t>练</a:t>
            </a:r>
            <a:endParaRPr lang="zh-CN" altLang="en-US"/>
          </a:p>
        </p:txBody>
      </p:sp>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定义一个函数，该函数用于将指定列表中指定索引位置的两个元素对调。</a:t>
            </a:r>
            <a:endParaRPr lang="zh-CN" altLang="en-US">
              <a:sym typeface="+mn-ea"/>
            </a:endParaRPr>
          </a:p>
          <a:p>
            <a:pPr algn="l"/>
            <a:endParaRPr lang="en-US" altLang="zh-CN">
              <a:sym typeface="+mn-ea"/>
            </a:endParaRPr>
          </a:p>
          <a:p>
            <a:pPr algn="l"/>
            <a:r>
              <a:rPr lang="zh-CN" altLang="en-US" b="1">
                <a:sym typeface="+mn-ea"/>
              </a:rPr>
              <a:t>示例：</a:t>
            </a:r>
            <a:r>
              <a:rPr lang="zh-CN" altLang="en-US">
                <a:sym typeface="+mn-ea"/>
              </a:rPr>
              <a:t>给定列表</a:t>
            </a:r>
            <a:r>
              <a:rPr lang="en-US" altLang="zh-CN">
                <a:sym typeface="+mn-ea"/>
              </a:rPr>
              <a:t> [23, 65, 19, 90]</a:t>
            </a:r>
            <a:r>
              <a:rPr lang="zh-CN" altLang="en-US">
                <a:sym typeface="+mn-ea"/>
              </a:rPr>
              <a:t>，以及索引位置</a:t>
            </a:r>
            <a:r>
              <a:rPr lang="en-US" altLang="zh-CN">
                <a:sym typeface="+mn-ea"/>
              </a:rPr>
              <a:t> 1 </a:t>
            </a:r>
            <a:r>
              <a:rPr lang="zh-CN" altLang="en-US">
                <a:sym typeface="+mn-ea"/>
              </a:rPr>
              <a:t>和</a:t>
            </a:r>
            <a:r>
              <a:rPr lang="en-US" altLang="zh-CN">
                <a:sym typeface="+mn-ea"/>
              </a:rPr>
              <a:t> 3</a:t>
            </a:r>
            <a:r>
              <a:rPr lang="zh-CN" altLang="en-US">
                <a:sym typeface="+mn-ea"/>
              </a:rPr>
              <a:t>，调用函数后，打印</a:t>
            </a:r>
            <a:r>
              <a:rPr lang="en-US" altLang="zh-CN">
                <a:sym typeface="+mn-ea"/>
              </a:rPr>
              <a:t> [23, 90, 19, 65]</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038 </a:t>
            </a:r>
            <a:r>
              <a:rPr lang="zh-CN" altLang="en-US"/>
              <a:t>练</a:t>
            </a:r>
            <a:endParaRPr lang="zh-CN" altLang="en-US"/>
          </a:p>
        </p:txBody>
      </p:sp>
    </p:spTree>
    <p:custDataLst>
      <p:tags r:id="rId2"/>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定义一个函数，该函数用于统计指定元素在指定列表中出现的次数。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039 </a:t>
            </a:r>
            <a:r>
              <a:rPr lang="zh-CN" altLang="en-US"/>
              <a:t>练</a:t>
            </a:r>
            <a:endParaRPr lang="zh-CN" altLang="en-US"/>
          </a:p>
        </p:txBody>
      </p:sp>
    </p:spTree>
    <p:custDataLst>
      <p:tags r:id="rId2"/>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定义一个函数，该函数接收一个整数列表作为参数，并返回列表中所有元素的乘积。</a:t>
            </a:r>
            <a:endParaRPr lang="zh-CN" altLang="en-US">
              <a:sym typeface="+mn-ea"/>
            </a:endParaRPr>
          </a:p>
          <a:p>
            <a:pPr algn="l"/>
            <a:endParaRPr lang="en-US" altLang="zh-CN">
              <a:sym typeface="+mn-ea"/>
            </a:endParaRPr>
          </a:p>
          <a:p>
            <a:pPr algn="l"/>
            <a:r>
              <a:rPr lang="zh-CN" altLang="en-US" b="1">
                <a:sym typeface="+mn-ea"/>
              </a:rPr>
              <a:t>示例：</a:t>
            </a:r>
            <a:r>
              <a:rPr lang="zh-CN" altLang="en-US">
                <a:sym typeface="+mn-ea"/>
              </a:rPr>
              <a:t>给定列表</a:t>
            </a:r>
            <a:r>
              <a:rPr lang="en-US" altLang="zh-CN">
                <a:sym typeface="+mn-ea"/>
              </a:rPr>
              <a:t> [1, 2, 3]</a:t>
            </a:r>
            <a:r>
              <a:rPr lang="zh-CN" altLang="en-US">
                <a:sym typeface="+mn-ea"/>
              </a:rPr>
              <a:t>，调用函数后，返回</a:t>
            </a:r>
            <a:r>
              <a:rPr lang="en-US" altLang="zh-CN">
                <a:sym typeface="+mn-ea"/>
              </a:rPr>
              <a:t> 6</a:t>
            </a:r>
            <a:r>
              <a:rPr lang="zh-CN" altLang="en-US">
                <a:sym typeface="+mn-ea"/>
              </a:rPr>
              <a:t>（即计算</a:t>
            </a:r>
            <a:r>
              <a:rPr lang="en-US" altLang="zh-CN">
                <a:sym typeface="+mn-ea"/>
              </a:rPr>
              <a:t> 1 * 2 * 3</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040 </a:t>
            </a:r>
            <a:r>
              <a:rPr lang="zh-CN" altLang="en-US"/>
              <a:t>练</a:t>
            </a:r>
            <a:endParaRPr lang="zh-CN" altLang="en-US"/>
          </a:p>
        </p:txBody>
      </p:sp>
    </p:spTree>
    <p:custDataLst>
      <p:tags r:id="rId2"/>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640205"/>
          </a:xfrm>
          <a:prstGeom prst="rect">
            <a:avLst/>
          </a:prstGeom>
          <a:noFill/>
        </p:spPr>
        <p:txBody>
          <a:bodyPr wrap="square" rtlCol="0">
            <a:spAutoFit/>
          </a:bodyPr>
          <a:p>
            <a:pPr algn="l">
              <a:lnSpc>
                <a:spcPct val="140000"/>
              </a:lnSpc>
            </a:pPr>
            <a:r>
              <a:rPr lang="zh-CN" altLang="en-US" b="1">
                <a:sym typeface="+mn-ea"/>
              </a:rPr>
              <a:t>需求：</a:t>
            </a:r>
            <a:r>
              <a:rPr lang="zh-CN" altLang="en-US">
                <a:sym typeface="+mn-ea"/>
              </a:rPr>
              <a:t>定义一个函数，该函数接收一个字符串和一个整数作为参数。完成以下操作：</a:t>
            </a:r>
            <a:endParaRPr lang="zh-CN" altLang="en-US">
              <a:sym typeface="+mn-ea"/>
            </a:endParaRPr>
          </a:p>
          <a:p>
            <a:pPr indent="457200" algn="l">
              <a:lnSpc>
                <a:spcPct val="140000"/>
              </a:lnSpc>
            </a:pPr>
            <a:r>
              <a:rPr lang="zh-CN" altLang="en-US">
                <a:sym typeface="+mn-ea"/>
              </a:rPr>
              <a:t> </a:t>
            </a:r>
            <a:r>
              <a:rPr lang="en-US" altLang="zh-CN">
                <a:sym typeface="+mn-ea"/>
              </a:rPr>
              <a:t>  1. </a:t>
            </a:r>
            <a:r>
              <a:rPr lang="zh-CN" altLang="en-US">
                <a:sym typeface="+mn-ea"/>
              </a:rPr>
              <a:t>从字符串头部截取指定数量的字符并翻转。</a:t>
            </a:r>
            <a:endParaRPr lang="zh-CN" altLang="en-US">
              <a:sym typeface="+mn-ea"/>
            </a:endParaRPr>
          </a:p>
          <a:p>
            <a:pPr indent="457200" algn="l">
              <a:lnSpc>
                <a:spcPct val="140000"/>
              </a:lnSpc>
            </a:pPr>
            <a:r>
              <a:rPr lang="zh-CN" altLang="en-US">
                <a:sym typeface="+mn-ea"/>
              </a:rPr>
              <a:t> </a:t>
            </a:r>
            <a:r>
              <a:rPr lang="en-US" altLang="zh-CN">
                <a:sym typeface="+mn-ea"/>
              </a:rPr>
              <a:t>  2. </a:t>
            </a:r>
            <a:r>
              <a:rPr lang="zh-CN" altLang="en-US">
                <a:sym typeface="+mn-ea"/>
              </a:rPr>
              <a:t>从字符串尾部截取相同数量的字符并翻转。</a:t>
            </a:r>
            <a:endParaRPr lang="zh-CN" altLang="en-US">
              <a:sym typeface="+mn-ea"/>
            </a:endParaRPr>
          </a:p>
          <a:p>
            <a:pPr indent="457200" algn="l">
              <a:lnSpc>
                <a:spcPct val="140000"/>
              </a:lnSpc>
            </a:pPr>
            <a:r>
              <a:rPr lang="zh-CN" altLang="en-US">
                <a:sym typeface="+mn-ea"/>
              </a:rPr>
              <a:t> </a:t>
            </a:r>
            <a:r>
              <a:rPr lang="en-US" altLang="zh-CN">
                <a:sym typeface="+mn-ea"/>
              </a:rPr>
              <a:t>  3. </a:t>
            </a:r>
            <a:r>
              <a:rPr lang="zh-CN" altLang="en-US">
                <a:sym typeface="+mn-ea"/>
              </a:rPr>
              <a:t>分别打印出头部和尾部翻转后与剩余部分拼接后的新字符串。</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041 </a:t>
            </a:r>
            <a:r>
              <a:rPr lang="zh-CN" altLang="en-US"/>
              <a:t>练</a:t>
            </a:r>
            <a:endParaRPr lang="zh-CN" altLang="en-US"/>
          </a:p>
        </p:txBody>
      </p:sp>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定义一个函数，用于交换指定字典的</a:t>
            </a:r>
            <a:r>
              <a:rPr lang="en-US" altLang="zh-CN">
                <a:sym typeface="+mn-ea"/>
              </a:rPr>
              <a:t> key </a:t>
            </a:r>
            <a:r>
              <a:rPr lang="zh-CN" altLang="en-US">
                <a:sym typeface="+mn-ea"/>
              </a:rPr>
              <a:t>和</a:t>
            </a:r>
            <a:r>
              <a:rPr lang="en-US" altLang="zh-CN">
                <a:sym typeface="+mn-ea"/>
              </a:rPr>
              <a:t> value</a:t>
            </a:r>
            <a:r>
              <a:rPr lang="zh-CN" altLang="en-US">
                <a:sym typeface="+mn-ea"/>
              </a:rPr>
              <a:t>。</a:t>
            </a:r>
            <a:endParaRPr lang="zh-CN" altLang="en-US">
              <a:sym typeface="+mn-ea"/>
            </a:endParaRPr>
          </a:p>
          <a:p>
            <a:pPr algn="l"/>
            <a:endParaRPr lang="en-US" altLang="zh-CN">
              <a:sym typeface="+mn-ea"/>
            </a:endParaRPr>
          </a:p>
          <a:p>
            <a:pPr algn="l"/>
            <a:r>
              <a:rPr lang="zh-CN" altLang="en-US" b="1">
                <a:sym typeface="+mn-ea"/>
              </a:rPr>
              <a:t>示例：</a:t>
            </a:r>
            <a:r>
              <a:rPr lang="zh-CN" altLang="en-US">
                <a:sym typeface="+mn-ea"/>
              </a:rPr>
              <a:t>给定字典</a:t>
            </a:r>
            <a:r>
              <a:rPr lang="en-US" altLang="zh-CN">
                <a:sym typeface="+mn-ea"/>
              </a:rPr>
              <a:t> {'a': 1, 'b': 2, 'c': 3}</a:t>
            </a:r>
            <a:r>
              <a:rPr lang="zh-CN" altLang="en-US">
                <a:sym typeface="+mn-ea"/>
              </a:rPr>
              <a:t>，调用函数后，返回</a:t>
            </a:r>
            <a:r>
              <a:rPr lang="en-US" altLang="zh-CN">
                <a:sym typeface="+mn-ea"/>
              </a:rPr>
              <a:t> {1: 'a', 2: 'b', 3:'c'}</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042 </a:t>
            </a:r>
            <a:r>
              <a:rPr lang="zh-CN" altLang="en-US"/>
              <a:t>练</a:t>
            </a:r>
            <a:endParaRPr lang="zh-CN" altLang="en-US"/>
          </a:p>
        </p:txBody>
      </p:sp>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定义一个函数，该函数用于尝试将用户输入的字符串转换为整数。如果转换成功，则返回整数。如果转换失败，则返回错误信息。</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043 </a:t>
            </a:r>
            <a:r>
              <a:rPr lang="zh-CN" altLang="en-US"/>
              <a:t>练</a:t>
            </a:r>
            <a:endParaRPr lang="zh-CN" altLang="en-US"/>
          </a:p>
        </p:txBody>
      </p:sp>
    </p:spTree>
    <p:custDataLst>
      <p:tags r:id="rId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定义一个函数，该函数接收一个人的年龄作为参数。如果年龄不在合法范围内（比如小于</a:t>
            </a:r>
            <a:r>
              <a:rPr lang="en-US" altLang="zh-CN">
                <a:sym typeface="+mn-ea"/>
              </a:rPr>
              <a:t> 0 </a:t>
            </a:r>
            <a:r>
              <a:rPr lang="zh-CN" altLang="en-US">
                <a:sym typeface="+mn-ea"/>
              </a:rPr>
              <a:t>或大于</a:t>
            </a:r>
            <a:r>
              <a:rPr lang="en-US" altLang="zh-CN">
                <a:sym typeface="+mn-ea"/>
              </a:rPr>
              <a:t> 120</a:t>
            </a:r>
            <a:r>
              <a:rPr lang="zh-CN" altLang="en-US">
                <a:sym typeface="+mn-ea"/>
              </a:rPr>
              <a:t>），则抛出异常。</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044 </a:t>
            </a:r>
            <a:r>
              <a:rPr lang="zh-CN" altLang="en-US"/>
              <a:t>练</a:t>
            </a:r>
            <a:endParaRPr lang="zh-CN" altLang="en-US"/>
          </a:p>
        </p:txBody>
      </p:sp>
    </p:spTree>
    <p:custDataLst>
      <p:tags r:id="rId2"/>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请使用</a:t>
            </a:r>
            <a:r>
              <a:rPr lang="en-US" altLang="zh-CN">
                <a:sym typeface="+mn-ea"/>
              </a:rPr>
              <a:t> Python </a:t>
            </a:r>
            <a:r>
              <a:rPr lang="zh-CN" altLang="en-US">
                <a:sym typeface="+mn-ea"/>
              </a:rPr>
              <a:t>的</a:t>
            </a:r>
            <a:r>
              <a:rPr lang="en-US" altLang="zh-CN">
                <a:sym typeface="+mn-ea"/>
              </a:rPr>
              <a:t> tkinter </a:t>
            </a:r>
            <a:r>
              <a:rPr lang="zh-CN" altLang="en-US">
                <a:sym typeface="+mn-ea"/>
              </a:rPr>
              <a:t>库来创建一个图形界面，并在其中绘制一个由圆圈组成的螺旋形图案。</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045 </a:t>
            </a:r>
            <a:r>
              <a:rPr lang="zh-CN" altLang="en-US"/>
              <a:t>练</a:t>
            </a:r>
            <a:endParaRPr lang="zh-CN" altLang="en-US"/>
          </a:p>
        </p:txBody>
      </p:sp>
      <p:pic>
        <p:nvPicPr>
          <p:cNvPr id="4" name="图片 3" descr="G:/引流/assets/QQ截图20250305210833.pngQQ截图20250305210833"/>
          <p:cNvPicPr>
            <a:picLocks noChangeAspect="1"/>
          </p:cNvPicPr>
          <p:nvPr/>
        </p:nvPicPr>
        <p:blipFill>
          <a:blip r:embed="rId2"/>
          <a:srcRect l="8" r="8"/>
          <a:stretch>
            <a:fillRect/>
          </a:stretch>
        </p:blipFill>
        <p:spPr>
          <a:xfrm>
            <a:off x="3777615" y="2231390"/>
            <a:ext cx="4637405" cy="3999230"/>
          </a:xfrm>
          <a:prstGeom prst="rect">
            <a:avLst/>
          </a:prstGeom>
        </p:spPr>
      </p:pic>
    </p:spTree>
    <p:custDataLst>
      <p:tags r:id="rId3"/>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请使用</a:t>
            </a:r>
            <a:r>
              <a:rPr lang="en-US" altLang="zh-CN">
                <a:sym typeface="+mn-ea"/>
              </a:rPr>
              <a:t> Python </a:t>
            </a:r>
            <a:r>
              <a:rPr lang="zh-CN" altLang="en-US">
                <a:sym typeface="+mn-ea"/>
              </a:rPr>
              <a:t>的</a:t>
            </a:r>
            <a:r>
              <a:rPr lang="en-US" altLang="zh-CN">
                <a:sym typeface="+mn-ea"/>
              </a:rPr>
              <a:t> tkinter </a:t>
            </a:r>
            <a:r>
              <a:rPr lang="zh-CN" altLang="en-US">
                <a:sym typeface="+mn-ea"/>
              </a:rPr>
              <a:t>库来创建一个图形界面，并在其中绘制一个由红色线条组成的螺旋形图案。</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046 </a:t>
            </a:r>
            <a:r>
              <a:rPr lang="zh-CN" altLang="en-US"/>
              <a:t>练</a:t>
            </a:r>
            <a:endParaRPr lang="zh-CN" altLang="en-US"/>
          </a:p>
        </p:txBody>
      </p:sp>
      <p:pic>
        <p:nvPicPr>
          <p:cNvPr id="4" name="图片 3" descr="G:/引流/assets/QQ截图20250305212028.pngQQ截图20250305212028"/>
          <p:cNvPicPr>
            <a:picLocks noChangeAspect="1"/>
          </p:cNvPicPr>
          <p:nvPr/>
        </p:nvPicPr>
        <p:blipFill>
          <a:blip r:embed="rId2"/>
          <a:srcRect/>
          <a:stretch>
            <a:fillRect/>
          </a:stretch>
        </p:blipFill>
        <p:spPr>
          <a:xfrm>
            <a:off x="4276725" y="2101850"/>
            <a:ext cx="3638550" cy="4000500"/>
          </a:xfrm>
          <a:prstGeom prst="rect">
            <a:avLst/>
          </a:prstGeom>
        </p:spPr>
      </p:pic>
    </p:spTree>
    <p:custDataLst>
      <p:tags r:id="rId3"/>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请使用</a:t>
            </a:r>
            <a:r>
              <a:rPr lang="en-US" altLang="zh-CN">
                <a:sym typeface="+mn-ea"/>
              </a:rPr>
              <a:t> Python </a:t>
            </a:r>
            <a:r>
              <a:rPr lang="zh-CN" altLang="en-US">
                <a:sym typeface="+mn-ea"/>
              </a:rPr>
              <a:t>的</a:t>
            </a:r>
            <a:r>
              <a:rPr lang="en-US" altLang="zh-CN">
                <a:sym typeface="+mn-ea"/>
              </a:rPr>
              <a:t> tkinter </a:t>
            </a:r>
            <a:r>
              <a:rPr lang="zh-CN" altLang="en-US">
                <a:sym typeface="+mn-ea"/>
              </a:rPr>
              <a:t>库来创建一个图形界面，并在其中绘制一个由矩形组成的螺旋形图案。</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047 </a:t>
            </a:r>
            <a:r>
              <a:rPr lang="zh-CN" altLang="en-US"/>
              <a:t>练</a:t>
            </a:r>
            <a:endParaRPr lang="zh-CN" altLang="en-US"/>
          </a:p>
        </p:txBody>
      </p:sp>
      <p:pic>
        <p:nvPicPr>
          <p:cNvPr id="4" name="图片 3" descr="G:/引流/assets/QQ截图20250305213305.pngQQ截图20250305213305"/>
          <p:cNvPicPr>
            <a:picLocks noChangeAspect="1"/>
          </p:cNvPicPr>
          <p:nvPr/>
        </p:nvPicPr>
        <p:blipFill>
          <a:blip r:embed="rId2"/>
          <a:srcRect l="16" r="16"/>
          <a:stretch>
            <a:fillRect/>
          </a:stretch>
        </p:blipFill>
        <p:spPr>
          <a:xfrm>
            <a:off x="4257675" y="2149475"/>
            <a:ext cx="3676650" cy="3952875"/>
          </a:xfrm>
          <a:prstGeom prst="rect">
            <a:avLst/>
          </a:prstGeom>
        </p:spPr>
      </p:pic>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编写一个程序，使用</a:t>
            </a:r>
            <a:r>
              <a:rPr lang="en-US" altLang="zh-CN">
                <a:sym typeface="+mn-ea"/>
              </a:rPr>
              <a:t> random </a:t>
            </a:r>
            <a:r>
              <a:rPr lang="zh-CN" altLang="en-US">
                <a:sym typeface="+mn-ea"/>
              </a:rPr>
              <a:t>模块来生成各种随机数。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048 </a:t>
            </a:r>
            <a:r>
              <a:rPr lang="zh-CN" altLang="en-US"/>
              <a:t>练</a:t>
            </a:r>
            <a:endParaRPr lang="zh-CN" altLang="en-US"/>
          </a:p>
        </p:txBody>
      </p:sp>
    </p:spTree>
    <p:custDataLst>
      <p:tags r:id="rId2"/>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编写一个程序，该程序能够根据用户指定的长度随机生成一个验证码（可包含大小写英文字母以及数字）。</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049 </a:t>
            </a:r>
            <a:r>
              <a:rPr lang="zh-CN" altLang="en-US"/>
              <a:t>练</a:t>
            </a:r>
            <a:endParaRPr lang="zh-CN" altLang="en-US"/>
          </a:p>
        </p:txBody>
      </p:sp>
    </p:spTree>
    <p:custDataLst>
      <p:tags r:id="rId2"/>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编写一个程序，该程序能够从用户指定的数字范围中随机选择</a:t>
            </a:r>
            <a:r>
              <a:rPr lang="en-US" altLang="zh-CN">
                <a:sym typeface="+mn-ea"/>
              </a:rPr>
              <a:t> 3 </a:t>
            </a:r>
            <a:r>
              <a:rPr lang="zh-CN" altLang="en-US">
                <a:sym typeface="+mn-ea"/>
              </a:rPr>
              <a:t>个不重复的数字。</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050 </a:t>
            </a:r>
            <a:r>
              <a:rPr lang="zh-CN" altLang="en-US"/>
              <a:t>练</a:t>
            </a:r>
            <a:endParaRPr lang="zh-CN" altLang="en-US"/>
          </a:p>
        </p:txBody>
      </p:sp>
    </p:spTree>
    <p:custDataLst>
      <p:tags r:id="rId2"/>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561975"/>
          </a:xfrm>
          <a:prstGeom prst="rect">
            <a:avLst/>
          </a:prstGeom>
          <a:noFill/>
        </p:spPr>
        <p:txBody>
          <a:bodyPr wrap="square" rtlCol="0">
            <a:spAutoFit/>
          </a:bodyPr>
          <a:p>
            <a:pPr algn="l">
              <a:lnSpc>
                <a:spcPct val="170000"/>
              </a:lnSpc>
            </a:pPr>
            <a:r>
              <a:rPr lang="zh-CN" altLang="en-US" b="1">
                <a:sym typeface="+mn-ea"/>
              </a:rPr>
              <a:t>需求：</a:t>
            </a:r>
            <a:r>
              <a:rPr lang="zh-CN" altLang="en-US">
                <a:sym typeface="+mn-ea"/>
              </a:rPr>
              <a:t>编写一个程序，使用</a:t>
            </a:r>
            <a:r>
              <a:rPr lang="en-US" altLang="zh-CN">
                <a:sym typeface="+mn-ea"/>
              </a:rPr>
              <a:t> time </a:t>
            </a:r>
            <a:r>
              <a:rPr lang="zh-CN" altLang="en-US">
                <a:sym typeface="+mn-ea"/>
              </a:rPr>
              <a:t>模块来实现时间处理功能。</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051 </a:t>
            </a:r>
            <a:r>
              <a:rPr lang="zh-CN" altLang="en-US"/>
              <a:t>练</a:t>
            </a:r>
            <a:endParaRPr lang="zh-CN" altLang="en-US"/>
          </a:p>
        </p:txBody>
      </p:sp>
    </p:spTree>
    <p:custDataLst>
      <p:tags r:id="rId2"/>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编写一个程序，该程序将遍历并打印从</a:t>
            </a:r>
            <a:r>
              <a:rPr lang="en-US" altLang="zh-CN">
                <a:sym typeface="+mn-ea"/>
              </a:rPr>
              <a:t> 0 </a:t>
            </a:r>
            <a:r>
              <a:rPr lang="zh-CN" altLang="en-US">
                <a:sym typeface="+mn-ea"/>
              </a:rPr>
              <a:t>到</a:t>
            </a:r>
            <a:r>
              <a:rPr lang="en-US" altLang="zh-CN">
                <a:sym typeface="+mn-ea"/>
              </a:rPr>
              <a:t> 2999 </a:t>
            </a:r>
            <a:r>
              <a:rPr lang="zh-CN" altLang="en-US">
                <a:sym typeface="+mn-ea"/>
              </a:rPr>
              <a:t>的所有整数，同时计算并输出整个遍历过程所消耗的总时间。</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052 </a:t>
            </a:r>
            <a:r>
              <a:rPr lang="zh-CN" altLang="en-US"/>
              <a:t>练</a:t>
            </a:r>
            <a:endParaRPr lang="zh-CN" altLang="en-US"/>
          </a:p>
        </p:txBody>
      </p:sp>
    </p:spTree>
    <p:custDataLst>
      <p:tags r:id="rId2"/>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编写一个程序，计算遍历从</a:t>
            </a:r>
            <a:r>
              <a:rPr lang="en-US" altLang="zh-CN">
                <a:sym typeface="+mn-ea"/>
              </a:rPr>
              <a:t> 0 </a:t>
            </a:r>
            <a:r>
              <a:rPr lang="zh-CN" altLang="en-US">
                <a:sym typeface="+mn-ea"/>
              </a:rPr>
              <a:t>到</a:t>
            </a:r>
            <a:r>
              <a:rPr lang="en-US" altLang="zh-CN">
                <a:sym typeface="+mn-ea"/>
              </a:rPr>
              <a:t> 9999 </a:t>
            </a:r>
            <a:r>
              <a:rPr lang="zh-CN" altLang="en-US">
                <a:sym typeface="+mn-ea"/>
              </a:rPr>
              <a:t>所有整数所需的时间，并将这个时间差以保留三位小数的浮点数形式输出。</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053 </a:t>
            </a:r>
            <a:r>
              <a:rPr lang="zh-CN" altLang="en-US"/>
              <a:t>练</a:t>
            </a:r>
            <a:endParaRPr lang="zh-CN" altLang="en-US"/>
          </a:p>
        </p:txBody>
      </p:sp>
    </p:spTree>
    <p:custDataLst>
      <p:tags r:id="rId2"/>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给定一个表示时间的字符串，要求将其转换为以秒为单位的整数时间戳。</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054 </a:t>
            </a:r>
            <a:r>
              <a:rPr lang="zh-CN" altLang="en-US"/>
              <a:t>练</a:t>
            </a:r>
            <a:endParaRPr lang="zh-CN" altLang="en-US"/>
          </a:p>
        </p:txBody>
      </p:sp>
    </p:spTree>
    <p:custDataLst>
      <p:tags r:id="rId2"/>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编写一个程序，该程序在暂停一秒后获取当前系统时间，并将其转换为</a:t>
            </a:r>
            <a:r>
              <a:rPr lang="en-US" altLang="zh-CN">
                <a:sym typeface="+mn-ea"/>
              </a:rPr>
              <a:t> "YYYY-MM-DD HH:MM:SS" </a:t>
            </a:r>
            <a:r>
              <a:rPr lang="zh-CN" altLang="en-US">
                <a:sym typeface="+mn-ea"/>
              </a:rPr>
              <a:t>格式的字符串进行打印。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055 </a:t>
            </a:r>
            <a:r>
              <a:rPr lang="zh-CN" altLang="en-US"/>
              <a:t>练</a:t>
            </a:r>
            <a:endParaRPr lang="zh-CN" altLang="en-US"/>
          </a:p>
        </p:txBody>
      </p:sp>
    </p:spTree>
    <p:custDataLst>
      <p:tags r:id="rId2"/>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编写一个程序，实现简单秒表功能。该程序在用户按下回车键后开始计时，在用户中断程序时停止计时。</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056 </a:t>
            </a:r>
            <a:r>
              <a:rPr lang="zh-CN" altLang="en-US"/>
              <a:t>练</a:t>
            </a:r>
            <a:endParaRPr lang="zh-CN" altLang="en-US"/>
          </a:p>
        </p:txBody>
      </p:sp>
    </p:spTree>
    <p:custDataLst>
      <p:tags r:id="rId2"/>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编写一个程序，实现数字猜谜游戏并测试反应速度。该程序会生成一个</a:t>
            </a:r>
            <a:r>
              <a:rPr lang="en-US" altLang="zh-CN">
                <a:sym typeface="+mn-ea"/>
              </a:rPr>
              <a:t> 0 </a:t>
            </a:r>
            <a:r>
              <a:rPr lang="zh-CN" altLang="en-US">
                <a:sym typeface="+mn-ea"/>
              </a:rPr>
              <a:t>至</a:t>
            </a:r>
            <a:r>
              <a:rPr lang="en-US" altLang="zh-CN">
                <a:sym typeface="+mn-ea"/>
              </a:rPr>
              <a:t> 99 </a:t>
            </a:r>
            <a:r>
              <a:rPr lang="zh-CN" altLang="en-US">
                <a:sym typeface="+mn-ea"/>
              </a:rPr>
              <a:t>间的随机数字供用户猜测，通过实时反馈引导用户直至猜中。同时，程序会记录用户的猜测耗时，并在游戏结束时提供表现反馈。</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057 </a:t>
            </a:r>
            <a:r>
              <a:rPr lang="zh-CN" altLang="en-US"/>
              <a:t>练</a:t>
            </a:r>
            <a:endParaRPr lang="zh-CN" altLang="en-US"/>
          </a:p>
        </p:txBody>
      </p:sp>
    </p:spTree>
    <p:custDataLst>
      <p:tags r:id="rId2"/>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编写一个程序，解析给定的日期字符串</a:t>
            </a:r>
            <a:r>
              <a:rPr lang="en-US" altLang="zh-CN">
                <a:sym typeface="+mn-ea"/>
              </a:rPr>
              <a:t> "Aug 28 2025 12:00AM"</a:t>
            </a:r>
            <a:r>
              <a:rPr lang="zh-CN" altLang="en-US">
                <a:sym typeface="+mn-ea"/>
              </a:rPr>
              <a:t>，并打印出解析后的日期时间对象。</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058 </a:t>
            </a:r>
            <a:r>
              <a:rPr lang="zh-CN" altLang="en-US"/>
              <a:t>练</a:t>
            </a:r>
            <a:endParaRPr lang="zh-CN" altLang="en-US"/>
          </a:p>
        </p:txBody>
      </p:sp>
    </p:spTree>
    <p:custDataLst>
      <p:tags r:id="rId2"/>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编写一个程序，要求用户输入年份和月份，打印出该月份对应的日历。</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059 </a:t>
            </a:r>
            <a:r>
              <a:rPr lang="zh-CN" altLang="en-US"/>
              <a:t>练</a:t>
            </a:r>
            <a:endParaRPr lang="zh-CN" altLang="en-US"/>
          </a:p>
        </p:txBody>
      </p:sp>
    </p:spTree>
    <p:custDataLst>
      <p:tags r:id="rId2"/>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编写一个程序，计算并打印出指定年指定月份的第一天是星期几以及该月份的总天数。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060 </a:t>
            </a:r>
            <a:r>
              <a:rPr lang="zh-CN" altLang="en-US"/>
              <a:t>练</a:t>
            </a:r>
            <a:endParaRPr lang="zh-CN" altLang="en-US"/>
          </a:p>
        </p:txBody>
      </p:sp>
    </p:spTree>
    <p:custDataLst>
      <p:tags r:id="rId2"/>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编写一个程序，用于获取并显示当前的日期和时间。</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061 </a:t>
            </a:r>
            <a:r>
              <a:rPr lang="zh-CN" altLang="en-US"/>
              <a:t>练</a:t>
            </a:r>
            <a:endParaRPr lang="zh-CN" altLang="en-US"/>
          </a:p>
        </p:txBody>
      </p:sp>
    </p:spTree>
    <p:custDataLst>
      <p:tags r:id="rId2"/>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编写一个程序，用于计算两个日期之间的天数差异。</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062 </a:t>
            </a:r>
            <a:r>
              <a:rPr lang="zh-CN" altLang="en-US"/>
              <a:t>练</a:t>
            </a:r>
            <a:endParaRPr lang="zh-CN" altLang="en-US"/>
          </a:p>
        </p:txBody>
      </p:sp>
    </p:spTree>
    <p:custDataLst>
      <p:tags r:id="rId2"/>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2027555"/>
          </a:xfrm>
          <a:prstGeom prst="rect">
            <a:avLst/>
          </a:prstGeom>
          <a:noFill/>
        </p:spPr>
        <p:txBody>
          <a:bodyPr wrap="square" rtlCol="0">
            <a:spAutoFit/>
          </a:bodyPr>
          <a:p>
            <a:pPr algn="l">
              <a:lnSpc>
                <a:spcPct val="140000"/>
              </a:lnSpc>
            </a:pPr>
            <a:r>
              <a:rPr lang="zh-CN" altLang="en-US" b="1">
                <a:sym typeface="+mn-ea"/>
              </a:rPr>
              <a:t>需求：</a:t>
            </a:r>
            <a:r>
              <a:rPr lang="zh-CN" altLang="en-US">
                <a:sym typeface="+mn-ea"/>
              </a:rPr>
              <a:t>编写一个程序，使用</a:t>
            </a:r>
            <a:r>
              <a:rPr lang="en-US" altLang="zh-CN">
                <a:sym typeface="+mn-ea"/>
              </a:rPr>
              <a:t> datetime </a:t>
            </a:r>
            <a:r>
              <a:rPr lang="zh-CN" altLang="en-US">
                <a:sym typeface="+mn-ea"/>
              </a:rPr>
              <a:t>模块完成以下任务：</a:t>
            </a:r>
            <a:endParaRPr lang="en-US" altLang="zh-CN">
              <a:sym typeface="+mn-ea"/>
            </a:endParaRPr>
          </a:p>
          <a:p>
            <a:pPr indent="457200" algn="l">
              <a:lnSpc>
                <a:spcPct val="140000"/>
              </a:lnSpc>
            </a:pPr>
            <a:r>
              <a:rPr lang="en-US" altLang="zh-CN">
                <a:sym typeface="+mn-ea"/>
              </a:rPr>
              <a:t>    1. </a:t>
            </a:r>
            <a:r>
              <a:rPr lang="zh-CN" altLang="en-US">
                <a:sym typeface="+mn-ea"/>
              </a:rPr>
              <a:t>输出今日日期（</a:t>
            </a:r>
            <a:r>
              <a:rPr lang="en-US" altLang="zh-CN">
                <a:sym typeface="+mn-ea"/>
              </a:rPr>
              <a:t>YYYY-MM-DD </a:t>
            </a:r>
            <a:r>
              <a:rPr lang="zh-CN" altLang="en-US">
                <a:sym typeface="+mn-ea"/>
              </a:rPr>
              <a:t>格式）。</a:t>
            </a:r>
            <a:endParaRPr lang="zh-CN" altLang="en-US">
              <a:sym typeface="+mn-ea"/>
            </a:endParaRPr>
          </a:p>
          <a:p>
            <a:pPr indent="457200" algn="l">
              <a:lnSpc>
                <a:spcPct val="140000"/>
              </a:lnSpc>
            </a:pPr>
            <a:r>
              <a:rPr lang="en-US" altLang="zh-CN">
                <a:sym typeface="+mn-ea"/>
              </a:rPr>
              <a:t>    2. </a:t>
            </a:r>
            <a:r>
              <a:rPr lang="zh-CN" altLang="en-US">
                <a:sym typeface="+mn-ea"/>
              </a:rPr>
              <a:t>创建并输出宫崎骏生日（</a:t>
            </a:r>
            <a:r>
              <a:rPr lang="en-US" altLang="zh-CN">
                <a:sym typeface="+mn-ea"/>
              </a:rPr>
              <a:t>1941</a:t>
            </a:r>
            <a:r>
              <a:rPr lang="zh-CN" altLang="en-US">
                <a:sym typeface="+mn-ea"/>
              </a:rPr>
              <a:t>年</a:t>
            </a:r>
            <a:r>
              <a:rPr lang="en-US" altLang="zh-CN">
                <a:sym typeface="+mn-ea"/>
              </a:rPr>
              <a:t>1</a:t>
            </a:r>
            <a:r>
              <a:rPr lang="zh-CN" altLang="en-US">
                <a:sym typeface="+mn-ea"/>
              </a:rPr>
              <a:t>月</a:t>
            </a:r>
            <a:r>
              <a:rPr lang="en-US" altLang="zh-CN">
                <a:sym typeface="+mn-ea"/>
              </a:rPr>
              <a:t>5</a:t>
            </a:r>
            <a:r>
              <a:rPr lang="zh-CN" altLang="en-US">
                <a:sym typeface="+mn-ea"/>
              </a:rPr>
              <a:t>日）的日期。</a:t>
            </a:r>
            <a:endParaRPr lang="zh-CN" altLang="en-US">
              <a:sym typeface="+mn-ea"/>
            </a:endParaRPr>
          </a:p>
          <a:p>
            <a:pPr indent="457200" algn="l">
              <a:lnSpc>
                <a:spcPct val="140000"/>
              </a:lnSpc>
            </a:pPr>
            <a:r>
              <a:rPr lang="en-US" altLang="zh-CN">
                <a:sym typeface="+mn-ea"/>
              </a:rPr>
              <a:t>    3. </a:t>
            </a:r>
            <a:r>
              <a:rPr lang="zh-CN" altLang="en-US">
                <a:sym typeface="+mn-ea"/>
              </a:rPr>
              <a:t>计算并输出宫崎骏生日的下一天。</a:t>
            </a:r>
            <a:endParaRPr lang="zh-CN" altLang="en-US">
              <a:sym typeface="+mn-ea"/>
            </a:endParaRPr>
          </a:p>
          <a:p>
            <a:pPr indent="457200" algn="l">
              <a:lnSpc>
                <a:spcPct val="140000"/>
              </a:lnSpc>
            </a:pPr>
            <a:r>
              <a:rPr lang="en-US" altLang="zh-CN">
                <a:sym typeface="+mn-ea"/>
              </a:rPr>
              <a:t>    4. </a:t>
            </a:r>
            <a:r>
              <a:rPr lang="zh-CN" altLang="en-US">
                <a:sym typeface="+mn-ea"/>
              </a:rPr>
              <a:t>计算并输出宫崎骏的一岁生日日期。</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063 </a:t>
            </a:r>
            <a:r>
              <a:rPr lang="zh-CN" altLang="en-US"/>
              <a:t>练</a:t>
            </a:r>
            <a:endParaRPr lang="zh-CN" altLang="en-US"/>
          </a:p>
        </p:txBody>
      </p:sp>
    </p:spTree>
    <p:custDataLst>
      <p:tags r:id="rId2"/>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定义一个函数，该函数接收两个参数：一个遵循</a:t>
            </a:r>
            <a:r>
              <a:rPr lang="en-US" altLang="zh-CN">
                <a:sym typeface="+mn-ea"/>
              </a:rPr>
              <a:t> "YYYY-MM-DD" </a:t>
            </a:r>
            <a:r>
              <a:rPr lang="zh-CN" altLang="en-US">
                <a:sym typeface="+mn-ea"/>
              </a:rPr>
              <a:t>格式的日期字符串</a:t>
            </a:r>
            <a:r>
              <a:rPr lang="en-US" altLang="zh-CN">
                <a:sym typeface="+mn-ea"/>
              </a:rPr>
              <a:t> pdate</a:t>
            </a:r>
            <a:r>
              <a:rPr lang="zh-CN" altLang="en-US">
                <a:sym typeface="+mn-ea"/>
              </a:rPr>
              <a:t>，以及一个整数</a:t>
            </a:r>
            <a:r>
              <a:rPr lang="en-US" altLang="zh-CN">
                <a:sym typeface="+mn-ea"/>
              </a:rPr>
              <a:t> days</a:t>
            </a:r>
            <a:r>
              <a:rPr lang="zh-CN" altLang="en-US">
                <a:sym typeface="+mn-ea"/>
              </a:rPr>
              <a:t>。该函数的任务是计算出从给定日期向前回溯</a:t>
            </a:r>
            <a:r>
              <a:rPr lang="en-US" altLang="zh-CN">
                <a:sym typeface="+mn-ea"/>
              </a:rPr>
              <a:t> days </a:t>
            </a:r>
            <a:r>
              <a:rPr lang="zh-CN" altLang="en-US">
                <a:sym typeface="+mn-ea"/>
              </a:rPr>
              <a:t>天后的新日期。</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064 </a:t>
            </a:r>
            <a:r>
              <a:rPr lang="zh-CN" altLang="en-US"/>
              <a:t>练</a:t>
            </a:r>
            <a:endParaRPr lang="zh-CN" altLang="en-US"/>
          </a:p>
        </p:txBody>
      </p:sp>
    </p:spTree>
    <p:custDataLst>
      <p:tags r:id="rId2"/>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922020"/>
          </a:xfrm>
          <a:prstGeom prst="rect">
            <a:avLst/>
          </a:prstGeom>
          <a:noFill/>
        </p:spPr>
        <p:txBody>
          <a:bodyPr wrap="square" rtlCol="0">
            <a:spAutoFit/>
          </a:bodyPr>
          <a:p>
            <a:pPr algn="l"/>
            <a:r>
              <a:rPr lang="zh-CN" altLang="en-US" b="1">
                <a:sym typeface="+mn-ea"/>
              </a:rPr>
              <a:t>需求：</a:t>
            </a:r>
            <a:r>
              <a:rPr lang="zh-CN" altLang="en-US">
                <a:sym typeface="+mn-ea"/>
              </a:rPr>
              <a:t>定义一个函数，它接收两个遵循</a:t>
            </a:r>
            <a:r>
              <a:rPr lang="en-US" altLang="zh-CN">
                <a:sym typeface="+mn-ea"/>
              </a:rPr>
              <a:t> "YYYY-MM-DD" </a:t>
            </a:r>
            <a:r>
              <a:rPr lang="zh-CN" altLang="en-US">
                <a:sym typeface="+mn-ea"/>
              </a:rPr>
              <a:t>格式的日期字符串参数</a:t>
            </a:r>
            <a:r>
              <a:rPr lang="en-US" altLang="zh-CN">
                <a:sym typeface="+mn-ea"/>
              </a:rPr>
              <a:t> begin_date </a:t>
            </a:r>
            <a:r>
              <a:rPr lang="zh-CN" altLang="en-US">
                <a:sym typeface="+mn-ea"/>
              </a:rPr>
              <a:t>和</a:t>
            </a:r>
            <a:r>
              <a:rPr lang="en-US" altLang="zh-CN">
                <a:sym typeface="+mn-ea"/>
              </a:rPr>
              <a:t> end_date</a:t>
            </a:r>
            <a:r>
              <a:rPr lang="zh-CN" altLang="en-US">
                <a:sym typeface="+mn-ea"/>
              </a:rPr>
              <a:t>。该函数的任务是生成一个包含从</a:t>
            </a:r>
            <a:r>
              <a:rPr lang="en-US" altLang="zh-CN">
                <a:sym typeface="+mn-ea"/>
              </a:rPr>
              <a:t> begin_date </a:t>
            </a:r>
            <a:r>
              <a:rPr lang="zh-CN" altLang="en-US">
                <a:sym typeface="+mn-ea"/>
              </a:rPr>
              <a:t>到</a:t>
            </a:r>
            <a:r>
              <a:rPr lang="en-US" altLang="zh-CN">
                <a:sym typeface="+mn-ea"/>
              </a:rPr>
              <a:t> end_date</a:t>
            </a:r>
            <a:r>
              <a:rPr lang="zh-CN" altLang="en-US">
                <a:sym typeface="+mn-ea"/>
              </a:rPr>
              <a:t>（包括两端日期在内）所有日期的列表，并将该列表作为结果返回。</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065 </a:t>
            </a:r>
            <a:r>
              <a:rPr lang="zh-CN" altLang="en-US"/>
              <a:t>练</a:t>
            </a:r>
            <a:endParaRPr lang="zh-CN" altLang="en-US"/>
          </a:p>
        </p:txBody>
      </p:sp>
    </p:spTree>
    <p:custDataLst>
      <p:tags r:id="rId2"/>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编写一个程序，给定一个</a:t>
            </a:r>
            <a:r>
              <a:rPr lang="en-US" altLang="zh-CN">
                <a:sym typeface="+mn-ea"/>
              </a:rPr>
              <a:t> Unix </a:t>
            </a:r>
            <a:r>
              <a:rPr lang="zh-CN" altLang="en-US">
                <a:sym typeface="+mn-ea"/>
              </a:rPr>
              <a:t>时间戳（例如：</a:t>
            </a:r>
            <a:r>
              <a:rPr lang="en-US" altLang="zh-CN">
                <a:sym typeface="+mn-ea"/>
              </a:rPr>
              <a:t>1620747224</a:t>
            </a:r>
            <a:r>
              <a:rPr lang="zh-CN" altLang="en-US">
                <a:sym typeface="+mn-ea"/>
              </a:rPr>
              <a:t>），请将其转换为对应的日期和时间字符串，格式为</a:t>
            </a:r>
            <a:r>
              <a:rPr lang="en-US" altLang="zh-CN">
                <a:sym typeface="+mn-ea"/>
              </a:rPr>
              <a:t> "YYYY-MM-DD HH:MM:SS"</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066 </a:t>
            </a:r>
            <a:r>
              <a:rPr lang="zh-CN" altLang="en-US"/>
              <a:t>练</a:t>
            </a:r>
            <a:endParaRPr lang="zh-CN" altLang="en-US"/>
          </a:p>
        </p:txBody>
      </p:sp>
    </p:spTree>
    <p:custDataLst>
      <p:tags r:id="rId2"/>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定义一个函数，用于将两个给定字典合并。</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067 </a:t>
            </a:r>
            <a:r>
              <a:rPr lang="zh-CN" altLang="en-US"/>
              <a:t>练</a:t>
            </a:r>
            <a:endParaRPr lang="zh-CN" altLang="en-US"/>
          </a:p>
        </p:txBody>
      </p:sp>
    </p:spTree>
    <p:custDataLst>
      <p:tags r:id="rId2"/>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定义一个学生类，用于存储学生的基本信息（如姓名、年龄、学号），并提供查询这些信息的方法。</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068 </a:t>
            </a:r>
            <a:r>
              <a:rPr lang="zh-CN" altLang="en-US"/>
              <a:t>练</a:t>
            </a:r>
            <a:endParaRPr lang="zh-CN" altLang="en-US"/>
          </a:p>
        </p:txBody>
      </p:sp>
    </p:spTree>
    <p:custDataLst>
      <p:tags r:id="rId2"/>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定义一个简单的计算器类，这个类支持加、减、乘、除四种基本运算。</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069 </a:t>
            </a:r>
            <a:r>
              <a:rPr lang="zh-CN" altLang="en-US"/>
              <a:t>练</a:t>
            </a:r>
            <a:endParaRPr lang="zh-CN" altLang="en-US"/>
          </a:p>
        </p:txBody>
      </p:sp>
    </p:spTree>
    <p:custDataLst>
      <p:tags r:id="rId2"/>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1198880"/>
          </a:xfrm>
          <a:prstGeom prst="rect">
            <a:avLst/>
          </a:prstGeom>
          <a:noFill/>
        </p:spPr>
        <p:txBody>
          <a:bodyPr wrap="square" rtlCol="0">
            <a:spAutoFit/>
          </a:bodyPr>
          <a:p>
            <a:pPr algn="l"/>
            <a:r>
              <a:rPr lang="zh-CN" altLang="en-US" b="1">
                <a:sym typeface="+mn-ea"/>
              </a:rPr>
              <a:t>需求：</a:t>
            </a:r>
            <a:endParaRPr lang="zh-CN" altLang="en-US" b="1">
              <a:sym typeface="+mn-ea"/>
            </a:endParaRPr>
          </a:p>
          <a:p>
            <a:pPr indent="457200" algn="l">
              <a:lnSpc>
                <a:spcPct val="150000"/>
              </a:lnSpc>
            </a:pPr>
            <a:r>
              <a:rPr lang="en-US" altLang="zh-CN">
                <a:sym typeface="+mn-ea"/>
              </a:rPr>
              <a:t>1. </a:t>
            </a:r>
            <a:r>
              <a:rPr lang="zh-CN" altLang="en-US">
                <a:sym typeface="+mn-ea"/>
              </a:rPr>
              <a:t>定义一个父类</a:t>
            </a:r>
            <a:r>
              <a:rPr lang="en-US" altLang="zh-CN">
                <a:sym typeface="+mn-ea"/>
              </a:rPr>
              <a:t> Vehicle</a:t>
            </a:r>
            <a:r>
              <a:rPr lang="zh-CN" altLang="en-US">
                <a:sym typeface="+mn-ea"/>
              </a:rPr>
              <a:t>，包含一个方法</a:t>
            </a:r>
            <a:r>
              <a:rPr lang="en-US" altLang="zh-CN">
                <a:sym typeface="+mn-ea"/>
              </a:rPr>
              <a:t> describe</a:t>
            </a:r>
            <a:r>
              <a:rPr lang="zh-CN" altLang="en-US">
                <a:sym typeface="+mn-ea"/>
              </a:rPr>
              <a:t>，用于描述车辆的基本信息。</a:t>
            </a:r>
            <a:endParaRPr lang="zh-CN" altLang="en-US">
              <a:sym typeface="+mn-ea"/>
            </a:endParaRPr>
          </a:p>
          <a:p>
            <a:pPr indent="457200" algn="l">
              <a:lnSpc>
                <a:spcPct val="150000"/>
              </a:lnSpc>
            </a:pPr>
            <a:r>
              <a:rPr lang="en-US" altLang="zh-CN">
                <a:sym typeface="+mn-ea"/>
              </a:rPr>
              <a:t>2. </a:t>
            </a:r>
            <a:r>
              <a:rPr lang="zh-CN" altLang="en-US">
                <a:sym typeface="+mn-ea"/>
              </a:rPr>
              <a:t>定义一个子类</a:t>
            </a:r>
            <a:r>
              <a:rPr lang="en-US" altLang="zh-CN">
                <a:sym typeface="+mn-ea"/>
              </a:rPr>
              <a:t> Car</a:t>
            </a:r>
            <a:r>
              <a:rPr lang="zh-CN" altLang="en-US">
                <a:sym typeface="+mn-ea"/>
              </a:rPr>
              <a:t>，继承自</a:t>
            </a:r>
            <a:r>
              <a:rPr lang="en-US" altLang="zh-CN">
                <a:sym typeface="+mn-ea"/>
              </a:rPr>
              <a:t> Vehicle</a:t>
            </a:r>
            <a:r>
              <a:rPr lang="zh-CN" altLang="en-US">
                <a:sym typeface="+mn-ea"/>
              </a:rPr>
              <a:t>，并重写</a:t>
            </a:r>
            <a:r>
              <a:rPr lang="en-US" altLang="zh-CN">
                <a:sym typeface="+mn-ea"/>
              </a:rPr>
              <a:t> describe </a:t>
            </a:r>
            <a:r>
              <a:rPr lang="zh-CN" altLang="en-US">
                <a:sym typeface="+mn-ea"/>
              </a:rPr>
              <a:t>方法，以提供关于汽车的特定信息。</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070 </a:t>
            </a:r>
            <a:r>
              <a:rPr lang="zh-CN" altLang="en-US"/>
              <a:t>练</a:t>
            </a:r>
            <a:endParaRPr lang="zh-CN" altLang="en-US"/>
          </a:p>
        </p:txBody>
      </p:sp>
    </p:spTree>
    <p:custDataLst>
      <p:tags r:id="rId2"/>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定义一个简单的银行账户类，这个类支持存款和取款操作。</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071 </a:t>
            </a:r>
            <a:r>
              <a:rPr lang="zh-CN" altLang="en-US"/>
              <a:t>练</a:t>
            </a:r>
            <a:endParaRPr lang="zh-CN" altLang="en-US"/>
          </a:p>
        </p:txBody>
      </p:sp>
    </p:spTree>
    <p:custDataLst>
      <p:tags r:id="rId2"/>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实现一个简单的学生成绩管理系统。这个系统允许我们添加学生、记录学生成绩，并计算每个学生的平均成绩。</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072 </a:t>
            </a:r>
            <a:r>
              <a:rPr lang="zh-CN" altLang="en-US"/>
              <a:t>练</a:t>
            </a:r>
            <a:endParaRPr lang="zh-CN" altLang="en-US"/>
          </a:p>
        </p:txBody>
      </p:sp>
    </p:spTree>
    <p:custDataLst>
      <p:tags r:id="rId2"/>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定义一个简单的在线购物车类。这个类支持添加商品、删除商品、查看购物车内容以及计算总价的功能。</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073 </a:t>
            </a:r>
            <a:r>
              <a:rPr lang="zh-CN" altLang="en-US"/>
              <a:t>练</a:t>
            </a:r>
            <a:endParaRPr lang="zh-CN" altLang="en-US"/>
          </a:p>
        </p:txBody>
      </p:sp>
    </p:spTree>
    <p:custDataLst>
      <p:tags r:id="rId2"/>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定义一个名为</a:t>
            </a:r>
            <a:r>
              <a:rPr lang="en-US" altLang="zh-CN">
                <a:sym typeface="+mn-ea"/>
              </a:rPr>
              <a:t> TextFileHandler </a:t>
            </a:r>
            <a:r>
              <a:rPr lang="zh-CN" altLang="en-US">
                <a:sym typeface="+mn-ea"/>
              </a:rPr>
              <a:t>的类，该类支持文本文件的读取和写入功能。</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074 </a:t>
            </a:r>
            <a:r>
              <a:rPr lang="zh-CN" altLang="en-US"/>
              <a:t>练</a:t>
            </a:r>
            <a:endParaRPr lang="zh-CN" altLang="en-US"/>
          </a:p>
        </p:txBody>
      </p:sp>
    </p:spTree>
    <p:custDataLst>
      <p:tags r:id="rId2"/>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定义一个简单的在线聊天室类。这个类允许用户加入聊天室、发送消息、查看聊天记录以及离开聊天室。</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075 </a:t>
            </a:r>
            <a:r>
              <a:rPr lang="zh-CN" altLang="en-US"/>
              <a:t>练</a:t>
            </a:r>
            <a:endParaRPr lang="zh-CN" altLang="en-US"/>
          </a:p>
        </p:txBody>
      </p:sp>
    </p:spTree>
    <p:custDataLst>
      <p:tags r:id="rId2"/>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students_grade_file.txt </a:t>
            </a:r>
            <a:r>
              <a:rPr lang="zh-CN" altLang="en-US">
                <a:sym typeface="+mn-ea"/>
              </a:rPr>
              <a:t>文件中读取学生数据</a:t>
            </a:r>
            <a:r>
              <a:rPr lang="en-US" altLang="zh-CN">
                <a:sym typeface="+mn-ea"/>
              </a:rPr>
              <a:t>(</a:t>
            </a:r>
            <a:r>
              <a:rPr lang="zh-CN" altLang="en-US">
                <a:sym typeface="+mn-ea"/>
              </a:rPr>
              <a:t>学号、姓名、成绩</a:t>
            </a:r>
            <a:r>
              <a:rPr lang="en-US" altLang="zh-CN">
                <a:sym typeface="+mn-ea"/>
              </a:rPr>
              <a:t>)</a:t>
            </a:r>
            <a:r>
              <a:rPr lang="zh-CN" altLang="en-US">
                <a:sym typeface="+mn-ea"/>
              </a:rPr>
              <a:t>，并根据成绩进行排序。</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076 </a:t>
            </a:r>
            <a:r>
              <a:rPr lang="zh-CN" altLang="en-US"/>
              <a:t>练</a:t>
            </a:r>
            <a:endParaRPr lang="zh-CN" altLang="en-US"/>
          </a:p>
        </p:txBody>
      </p:sp>
    </p:spTree>
    <p:custDataLst>
      <p:tags r:id="rId2"/>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students_grade_file.txt </a:t>
            </a:r>
            <a:r>
              <a:rPr lang="zh-CN" altLang="en-US">
                <a:sym typeface="+mn-ea"/>
              </a:rPr>
              <a:t>文件中读取学生的成绩数据，并计算这些成绩中的最高分、最低分以及平均分</a:t>
            </a:r>
            <a:r>
              <a:rPr lang="en-US" altLang="zh-CN">
                <a:sym typeface="+mn-ea"/>
              </a:rPr>
              <a:t>(</a:t>
            </a:r>
            <a:r>
              <a:rPr lang="zh-CN" altLang="en-US">
                <a:sym typeface="+mn-ea"/>
              </a:rPr>
              <a:t>平均分需保留两位小数</a:t>
            </a:r>
            <a:r>
              <a:rPr lang="en-US" altLang="zh-CN">
                <a:sym typeface="+mn-ea"/>
              </a:rPr>
              <a:t>)</a:t>
            </a:r>
            <a:r>
              <a:rPr lang="zh-CN" altLang="en-US">
                <a:sym typeface="+mn-ea"/>
              </a:rPr>
              <a:t>。</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077 </a:t>
            </a:r>
            <a:r>
              <a:rPr lang="zh-CN" altLang="en-US"/>
              <a:t>练</a:t>
            </a:r>
            <a:endParaRPr lang="zh-CN" altLang="en-US"/>
          </a:p>
        </p:txBody>
      </p:sp>
    </p:spTree>
    <p:custDataLst>
      <p:tags r:id="rId2"/>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编写一个程序，统计指定文本文件中各个单词出现的次数，并将出现次数最多的前十个单词及其对应的次数输出。</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078 </a:t>
            </a:r>
            <a:r>
              <a:rPr lang="zh-CN" altLang="en-US"/>
              <a:t>练</a:t>
            </a:r>
            <a:endParaRPr lang="zh-CN" altLang="en-US"/>
          </a:p>
        </p:txBody>
      </p:sp>
    </p:spTree>
    <p:custDataLst>
      <p:tags r:id="rId2"/>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编写一个程序，计算当前工作目录下所有文件的大小总和，并将结果以千字节（</a:t>
            </a:r>
            <a:r>
              <a:rPr lang="en-US" altLang="zh-CN">
                <a:sym typeface="+mn-ea"/>
              </a:rPr>
              <a:t>KB</a:t>
            </a:r>
            <a:r>
              <a:rPr lang="zh-CN" altLang="en-US">
                <a:sym typeface="+mn-ea"/>
              </a:rPr>
              <a:t>）为单位进行打印。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079 </a:t>
            </a:r>
            <a:r>
              <a:rPr lang="zh-CN" altLang="en-US"/>
              <a:t>练</a:t>
            </a:r>
            <a:endParaRPr lang="zh-CN" altLang="en-US"/>
          </a:p>
        </p:txBody>
      </p:sp>
    </p:spTree>
    <p:custDataLst>
      <p:tags r:id="rId2"/>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编写一个程序，用于遍历指定目录下的所有文件，并根据每个文件的后缀名进行分类。</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080 </a:t>
            </a:r>
            <a:r>
              <a:rPr lang="zh-CN" altLang="en-US"/>
              <a:t>练</a:t>
            </a:r>
            <a:endParaRPr lang="zh-CN" altLang="en-US"/>
          </a:p>
        </p:txBody>
      </p:sp>
      <p:pic>
        <p:nvPicPr>
          <p:cNvPr id="4" name="图片 3" descr="G:/引流/assets/QQ截图20250219153912.pngQQ截图20250219153912"/>
          <p:cNvPicPr>
            <a:picLocks noChangeAspect="1"/>
          </p:cNvPicPr>
          <p:nvPr/>
        </p:nvPicPr>
        <p:blipFill>
          <a:blip r:embed="rId2"/>
          <a:srcRect/>
          <a:stretch>
            <a:fillRect/>
          </a:stretch>
        </p:blipFill>
        <p:spPr>
          <a:xfrm>
            <a:off x="3834130" y="2103120"/>
            <a:ext cx="4524375" cy="3505200"/>
          </a:xfrm>
          <a:prstGeom prst="rect">
            <a:avLst/>
          </a:prstGeom>
        </p:spPr>
      </p:pic>
    </p:spTree>
    <p:custDataLst>
      <p:tags r:id="rId3"/>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编写一个程序，搜索指定目录（含其子目录）内的所有</a:t>
            </a:r>
            <a:r>
              <a:rPr lang="en-US" altLang="zh-CN">
                <a:sym typeface="+mn-ea"/>
              </a:rPr>
              <a:t> .txt </a:t>
            </a:r>
            <a:r>
              <a:rPr lang="zh-CN" altLang="en-US">
                <a:sym typeface="+mn-ea"/>
              </a:rPr>
              <a:t>文件，并找出其中最大的文件及其大小。</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081 </a:t>
            </a:r>
            <a:r>
              <a:rPr lang="zh-CN" altLang="en-US"/>
              <a:t>练</a:t>
            </a:r>
            <a:endParaRPr lang="zh-CN" altLang="en-US"/>
          </a:p>
        </p:txBody>
      </p:sp>
      <p:pic>
        <p:nvPicPr>
          <p:cNvPr id="4" name="图片 3" descr="G:/引流/assets/QQ截图20250219154024.pngQQ截图20250219154024"/>
          <p:cNvPicPr>
            <a:picLocks noChangeAspect="1"/>
          </p:cNvPicPr>
          <p:nvPr/>
        </p:nvPicPr>
        <p:blipFill>
          <a:blip r:embed="rId2"/>
          <a:srcRect/>
          <a:stretch>
            <a:fillRect/>
          </a:stretch>
        </p:blipFill>
        <p:spPr>
          <a:xfrm>
            <a:off x="3857625" y="2392680"/>
            <a:ext cx="4476750" cy="2733675"/>
          </a:xfrm>
          <a:prstGeom prst="rect">
            <a:avLst/>
          </a:prstGeom>
        </p:spPr>
      </p:pic>
    </p:spTree>
    <p:custDataLst>
      <p:tags r:id="rId3"/>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course_student_grade.txt </a:t>
            </a:r>
            <a:r>
              <a:rPr lang="zh-CN" altLang="en-US">
                <a:sym typeface="+mn-ea"/>
              </a:rPr>
              <a:t>文件中读取课程和学生成绩信息，计算并打印出每门课程的最高分、最低分和平均分。</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082 </a:t>
            </a:r>
            <a:r>
              <a:rPr lang="zh-CN" altLang="en-US"/>
              <a:t>练</a:t>
            </a:r>
            <a:endParaRPr lang="zh-CN" altLang="en-US"/>
          </a:p>
        </p:txBody>
      </p:sp>
    </p:spTree>
    <p:custDataLst>
      <p:tags r:id="rId2"/>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编写一个程序，从</a:t>
            </a:r>
            <a:r>
              <a:rPr lang="en-US" altLang="zh-CN">
                <a:sym typeface="+mn-ea"/>
              </a:rPr>
              <a:t> course_teacher.txt </a:t>
            </a:r>
            <a:r>
              <a:rPr lang="zh-CN" altLang="en-US">
                <a:sym typeface="+mn-ea"/>
              </a:rPr>
              <a:t>和</a:t>
            </a:r>
            <a:r>
              <a:rPr lang="en-US" altLang="zh-CN">
                <a:sym typeface="+mn-ea"/>
              </a:rPr>
              <a:t> course_student_grade.txt </a:t>
            </a:r>
            <a:r>
              <a:rPr lang="zh-CN" altLang="en-US">
                <a:sym typeface="+mn-ea"/>
              </a:rPr>
              <a:t>两个文本文件中读取信息，并打印出包含课程名称、教师姓名、学生学号、学生姓名和学生成绩的完整信息。</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083 </a:t>
            </a:r>
            <a:r>
              <a:rPr lang="zh-CN" altLang="en-US"/>
              <a:t>练</a:t>
            </a:r>
            <a:endParaRPr lang="zh-CN" altLang="en-US"/>
          </a:p>
        </p:txBody>
      </p:sp>
    </p:spTree>
    <p:custDataLst>
      <p:tags r:id="rId2"/>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编写一个程序，用于将指定目录下所有</a:t>
            </a:r>
            <a:r>
              <a:rPr lang="en-US" altLang="zh-CN">
                <a:sym typeface="+mn-ea"/>
              </a:rPr>
              <a:t> .txt </a:t>
            </a:r>
            <a:r>
              <a:rPr lang="zh-CN" altLang="en-US">
                <a:sym typeface="+mn-ea"/>
              </a:rPr>
              <a:t>文件的内容合并到一个新的文件中，每个文件的内容之间使用换行符分隔。</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084 </a:t>
            </a:r>
            <a:r>
              <a:rPr lang="zh-CN" altLang="en-US"/>
              <a:t>练</a:t>
            </a:r>
            <a:endParaRPr lang="zh-CN" altLang="en-US"/>
          </a:p>
        </p:txBody>
      </p:sp>
    </p:spTree>
    <p:custDataLst>
      <p:tags r:id="rId2"/>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student_like.txt </a:t>
            </a:r>
            <a:r>
              <a:rPr lang="zh-CN" altLang="en-US">
                <a:sym typeface="+mn-ea"/>
              </a:rPr>
              <a:t>文件中读取学生喜欢的项目列表，并统计各个项目的受欢迎程度（即被多少学生喜欢）。</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085 </a:t>
            </a:r>
            <a:r>
              <a:rPr lang="zh-CN" altLang="en-US"/>
              <a:t>练</a:t>
            </a:r>
            <a:endParaRPr lang="zh-CN" altLang="en-US"/>
          </a:p>
        </p:txBody>
      </p:sp>
    </p:spTree>
    <p:custDataLst>
      <p:tags r:id="rId2"/>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编写一个程序，不断提示用户输入数据，直到输入结束符</a:t>
            </a:r>
            <a:r>
              <a:rPr lang="en-US" altLang="zh-CN">
                <a:sym typeface="+mn-ea"/>
              </a:rPr>
              <a:t> "#"</a:t>
            </a:r>
            <a:r>
              <a:rPr lang="zh-CN" altLang="en-US">
                <a:sym typeface="+mn-ea"/>
              </a:rPr>
              <a:t>。在输入过程中，将用户每次输入的数据（不包含结束符</a:t>
            </a:r>
            <a:r>
              <a:rPr lang="en-US" altLang="zh-CN">
                <a:sym typeface="+mn-ea"/>
              </a:rPr>
              <a:t> "#" </a:t>
            </a:r>
            <a:r>
              <a:rPr lang="zh-CN" altLang="en-US">
                <a:sym typeface="+mn-ea"/>
              </a:rPr>
              <a:t>）逐行保存到文件中。</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086 </a:t>
            </a:r>
            <a:r>
              <a:rPr lang="zh-CN" altLang="en-US"/>
              <a:t>练</a:t>
            </a:r>
            <a:endParaRPr lang="zh-CN" altLang="en-US"/>
          </a:p>
        </p:txBody>
      </p:sp>
    </p:spTree>
    <p:custDataLst>
      <p:tags r:id="rId2"/>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输入一个字符串数据，将其所有小写字母转换为大写字母，并将转换后的字符串保存到磁盘文件</a:t>
            </a:r>
            <a:r>
              <a:rPr lang="en-US" altLang="zh-CN">
                <a:sym typeface="+mn-ea"/>
              </a:rPr>
              <a:t> test.txt </a:t>
            </a:r>
            <a:r>
              <a:rPr lang="zh-CN" altLang="en-US">
                <a:sym typeface="+mn-ea"/>
              </a:rPr>
              <a:t>中。</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087 </a:t>
            </a:r>
            <a:r>
              <a:rPr lang="zh-CN" altLang="en-US"/>
              <a:t>练</a:t>
            </a:r>
            <a:endParaRPr lang="zh-CN" altLang="en-US"/>
          </a:p>
        </p:txBody>
      </p:sp>
    </p:spTree>
    <p:custDataLst>
      <p:tags r:id="rId2"/>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有两个磁盘文件</a:t>
            </a:r>
            <a:r>
              <a:rPr lang="en-US" altLang="zh-CN">
                <a:sym typeface="+mn-ea"/>
              </a:rPr>
              <a:t> test1.txt </a:t>
            </a:r>
            <a:r>
              <a:rPr lang="zh-CN" altLang="en-US">
                <a:sym typeface="+mn-ea"/>
              </a:rPr>
              <a:t>和</a:t>
            </a:r>
            <a:r>
              <a:rPr lang="en-US" altLang="zh-CN">
                <a:sym typeface="+mn-ea"/>
              </a:rPr>
              <a:t> test2.txt</a:t>
            </a:r>
            <a:r>
              <a:rPr lang="zh-CN" altLang="en-US">
                <a:sym typeface="+mn-ea"/>
              </a:rPr>
              <a:t>，各自存储着一行字母。要求将这两个文件中的字母合并，并按字母顺序进行排序，然后将排序后的结果写入到一个新的文件</a:t>
            </a:r>
            <a:r>
              <a:rPr lang="en-US" altLang="zh-CN">
                <a:sym typeface="+mn-ea"/>
              </a:rPr>
              <a:t> test3.txt </a:t>
            </a:r>
            <a:r>
              <a:rPr lang="zh-CN" altLang="en-US">
                <a:sym typeface="+mn-ea"/>
              </a:rPr>
              <a:t>中。</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088 </a:t>
            </a:r>
            <a:r>
              <a:rPr lang="zh-CN" altLang="en-US"/>
              <a:t>练</a:t>
            </a:r>
            <a:endParaRPr lang="zh-CN" altLang="en-US"/>
          </a:p>
        </p:txBody>
      </p:sp>
    </p:spTree>
    <p:custDataLst>
      <p:tags r:id="rId2"/>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a:t>
            </a:r>
            <a:r>
              <a:rPr lang="zh-CN" altLang="en-US">
                <a:sym typeface="+mn-ea"/>
              </a:rPr>
              <a:t>人员信息</a:t>
            </a:r>
            <a:r>
              <a:rPr lang="en-US" altLang="zh-CN">
                <a:sym typeface="+mn-ea"/>
              </a:rPr>
              <a:t>.csv </a:t>
            </a:r>
            <a:r>
              <a:rPr lang="zh-CN" altLang="en-US">
                <a:sym typeface="+mn-ea"/>
              </a:rPr>
              <a:t>文件中读取内容，并将其完整复制到另一个</a:t>
            </a:r>
            <a:r>
              <a:rPr lang="en-US" altLang="zh-CN">
                <a:sym typeface="+mn-ea"/>
              </a:rPr>
              <a:t> CSV </a:t>
            </a:r>
            <a:r>
              <a:rPr lang="zh-CN" altLang="en-US">
                <a:sym typeface="+mn-ea"/>
              </a:rPr>
              <a:t>文件中。</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089 </a:t>
            </a:r>
            <a:r>
              <a:rPr lang="zh-CN" altLang="en-US"/>
              <a:t>练</a:t>
            </a:r>
            <a:endParaRPr lang="zh-CN" altLang="en-US"/>
          </a:p>
        </p:txBody>
      </p:sp>
    </p:spTree>
    <p:custDataLst>
      <p:tags r:id="rId2"/>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定义一个函数，用于验证给定的日期字符串是否符合</a:t>
            </a:r>
            <a:r>
              <a:rPr lang="en-US" altLang="zh-CN">
                <a:sym typeface="+mn-ea"/>
              </a:rPr>
              <a:t> YYYY-MM-DD </a:t>
            </a:r>
            <a:r>
              <a:rPr lang="zh-CN" altLang="en-US">
                <a:sym typeface="+mn-ea"/>
              </a:rPr>
              <a:t>的格式。</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090 </a:t>
            </a:r>
            <a:r>
              <a:rPr lang="zh-CN" altLang="en-US"/>
              <a:t>练</a:t>
            </a:r>
            <a:endParaRPr lang="zh-CN" altLang="en-US"/>
          </a:p>
        </p:txBody>
      </p:sp>
    </p:spTree>
    <p:custDataLst>
      <p:tags r:id="rId2"/>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给定一段包含多个中国手机号码的文本，要求提取出所有符合格式的手机号码。</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091 </a:t>
            </a:r>
            <a:r>
              <a:rPr lang="zh-CN" altLang="en-US"/>
              <a:t>练</a:t>
            </a:r>
            <a:endParaRPr lang="zh-CN" altLang="en-US"/>
          </a:p>
        </p:txBody>
      </p:sp>
    </p:spTree>
    <p:custDataLst>
      <p:tags r:id="rId2"/>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a:t>
            </a:r>
            <a:r>
              <a:rPr lang="en-US" altLang="zh-CN">
                <a:solidFill>
                  <a:schemeClr val="accent2"/>
                </a:solidFill>
                <a:sym typeface="+mn-ea"/>
              </a:rPr>
              <a:t>webpage_phone_numbers.txt</a:t>
            </a:r>
            <a:r>
              <a:rPr lang="en-US" altLang="zh-CN">
                <a:sym typeface="+mn-ea"/>
              </a:rPr>
              <a:t> </a:t>
            </a:r>
            <a:r>
              <a:rPr lang="zh-CN" altLang="en-US">
                <a:sym typeface="+mn-ea"/>
              </a:rPr>
              <a:t>文件中提取并输出所有符合格式的中国手机号码。</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092 </a:t>
            </a:r>
            <a:r>
              <a:rPr lang="zh-CN" altLang="en-US"/>
              <a:t>练</a:t>
            </a:r>
            <a:endParaRPr lang="zh-CN" altLang="en-US"/>
          </a:p>
        </p:txBody>
      </p:sp>
    </p:spTree>
    <p:custDataLst>
      <p:tags r:id="rId2"/>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2414905"/>
          </a:xfrm>
          <a:prstGeom prst="rect">
            <a:avLst/>
          </a:prstGeom>
          <a:noFill/>
        </p:spPr>
        <p:txBody>
          <a:bodyPr wrap="square" rtlCol="0">
            <a:spAutoFit/>
          </a:bodyPr>
          <a:p>
            <a:pPr algn="l">
              <a:lnSpc>
                <a:spcPct val="140000"/>
              </a:lnSpc>
            </a:pPr>
            <a:r>
              <a:rPr lang="zh-CN" altLang="en-US" b="1">
                <a:sym typeface="+mn-ea"/>
              </a:rPr>
              <a:t>需求：</a:t>
            </a:r>
            <a:r>
              <a:rPr lang="zh-CN" altLang="en-US">
                <a:sym typeface="+mn-ea"/>
              </a:rPr>
              <a:t>定义一个函数，验证密码是否符合规范：</a:t>
            </a:r>
            <a:endParaRPr lang="en-US" altLang="zh-CN">
              <a:sym typeface="+mn-ea"/>
            </a:endParaRPr>
          </a:p>
          <a:p>
            <a:pPr indent="457200" algn="l">
              <a:lnSpc>
                <a:spcPct val="140000"/>
              </a:lnSpc>
            </a:pPr>
            <a:r>
              <a:rPr lang="en-US" altLang="zh-CN">
                <a:sym typeface="+mn-ea"/>
              </a:rPr>
              <a:t>    1. </a:t>
            </a:r>
            <a:r>
              <a:rPr lang="zh-CN" altLang="en-US">
                <a:sym typeface="+mn-ea"/>
              </a:rPr>
              <a:t>长度位于</a:t>
            </a:r>
            <a:r>
              <a:rPr lang="en-US" altLang="zh-CN">
                <a:sym typeface="+mn-ea"/>
              </a:rPr>
              <a:t> 6 - 20 </a:t>
            </a:r>
            <a:r>
              <a:rPr lang="zh-CN" altLang="en-US">
                <a:sym typeface="+mn-ea"/>
              </a:rPr>
              <a:t>之间</a:t>
            </a:r>
            <a:endParaRPr lang="zh-CN" altLang="en-US">
              <a:sym typeface="+mn-ea"/>
            </a:endParaRPr>
          </a:p>
          <a:p>
            <a:pPr indent="457200" algn="l">
              <a:lnSpc>
                <a:spcPct val="140000"/>
              </a:lnSpc>
            </a:pPr>
            <a:r>
              <a:rPr lang="en-US" altLang="zh-CN">
                <a:sym typeface="+mn-ea"/>
              </a:rPr>
              <a:t>    2. </a:t>
            </a:r>
            <a:r>
              <a:rPr lang="zh-CN" altLang="en-US">
                <a:sym typeface="+mn-ea"/>
              </a:rPr>
              <a:t>必须包含至少</a:t>
            </a:r>
            <a:r>
              <a:rPr lang="en-US" altLang="zh-CN">
                <a:sym typeface="+mn-ea"/>
              </a:rPr>
              <a:t> 1 </a:t>
            </a:r>
            <a:r>
              <a:rPr lang="zh-CN" altLang="en-US">
                <a:sym typeface="+mn-ea"/>
              </a:rPr>
              <a:t>个小写字母</a:t>
            </a:r>
            <a:endParaRPr lang="zh-CN" altLang="en-US">
              <a:sym typeface="+mn-ea"/>
            </a:endParaRPr>
          </a:p>
          <a:p>
            <a:pPr indent="457200" algn="l">
              <a:lnSpc>
                <a:spcPct val="140000"/>
              </a:lnSpc>
            </a:pPr>
            <a:r>
              <a:rPr lang="en-US" altLang="zh-CN">
                <a:sym typeface="+mn-ea"/>
              </a:rPr>
              <a:t>    3. </a:t>
            </a:r>
            <a:r>
              <a:rPr lang="zh-CN" altLang="en-US">
                <a:sym typeface="+mn-ea"/>
              </a:rPr>
              <a:t>必须包含至少</a:t>
            </a:r>
            <a:r>
              <a:rPr lang="en-US" altLang="zh-CN">
                <a:sym typeface="+mn-ea"/>
              </a:rPr>
              <a:t> 1 </a:t>
            </a:r>
            <a:r>
              <a:rPr lang="zh-CN" altLang="en-US">
                <a:sym typeface="+mn-ea"/>
              </a:rPr>
              <a:t>个大写字母</a:t>
            </a:r>
            <a:endParaRPr lang="zh-CN" altLang="en-US">
              <a:sym typeface="+mn-ea"/>
            </a:endParaRPr>
          </a:p>
          <a:p>
            <a:pPr indent="457200" algn="l">
              <a:lnSpc>
                <a:spcPct val="140000"/>
              </a:lnSpc>
            </a:pPr>
            <a:r>
              <a:rPr lang="en-US" altLang="zh-CN">
                <a:sym typeface="+mn-ea"/>
              </a:rPr>
              <a:t>    4. </a:t>
            </a:r>
            <a:r>
              <a:rPr lang="zh-CN" altLang="en-US">
                <a:sym typeface="+mn-ea"/>
              </a:rPr>
              <a:t>必须包含至少</a:t>
            </a:r>
            <a:r>
              <a:rPr lang="en-US" altLang="zh-CN">
                <a:sym typeface="+mn-ea"/>
              </a:rPr>
              <a:t> 1 </a:t>
            </a:r>
            <a:r>
              <a:rPr lang="zh-CN" altLang="en-US">
                <a:sym typeface="+mn-ea"/>
              </a:rPr>
              <a:t>个数字</a:t>
            </a:r>
            <a:endParaRPr lang="zh-CN" altLang="en-US">
              <a:sym typeface="+mn-ea"/>
            </a:endParaRPr>
          </a:p>
          <a:p>
            <a:pPr indent="457200" algn="l">
              <a:lnSpc>
                <a:spcPct val="140000"/>
              </a:lnSpc>
            </a:pPr>
            <a:r>
              <a:rPr lang="en-US" altLang="zh-CN">
                <a:sym typeface="+mn-ea"/>
              </a:rPr>
              <a:t>    5. </a:t>
            </a:r>
            <a:r>
              <a:rPr lang="zh-CN" altLang="en-US">
                <a:sym typeface="+mn-ea"/>
              </a:rPr>
              <a:t>必须包含至少</a:t>
            </a:r>
            <a:r>
              <a:rPr lang="en-US" altLang="zh-CN">
                <a:sym typeface="+mn-ea"/>
              </a:rPr>
              <a:t> 1 </a:t>
            </a:r>
            <a:r>
              <a:rPr lang="zh-CN" altLang="en-US">
                <a:sym typeface="+mn-ea"/>
              </a:rPr>
              <a:t>个特殊字符</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093 </a:t>
            </a:r>
            <a:r>
              <a:rPr lang="zh-CN" altLang="en-US"/>
              <a:t>练</a:t>
            </a:r>
            <a:endParaRPr lang="zh-CN" altLang="en-US"/>
          </a:p>
        </p:txBody>
      </p:sp>
    </p:spTree>
    <p:custDataLst>
      <p:tags r:id="rId2"/>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给定一段包含多个邮箱地址的文本，要求提取出所有标准的邮箱地址。</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094 </a:t>
            </a:r>
            <a:r>
              <a:rPr lang="zh-CN" altLang="en-US"/>
              <a:t>练</a:t>
            </a:r>
            <a:endParaRPr lang="zh-CN" altLang="en-US"/>
          </a:p>
        </p:txBody>
      </p:sp>
    </p:spTree>
    <p:custDataLst>
      <p:tags r:id="rId2"/>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给定一段包含购物信息的文本，要求提取出每样物品的购买数量（以斤为单位）、物品名称以及所花费的金额。</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095 </a:t>
            </a:r>
            <a:r>
              <a:rPr lang="zh-CN" altLang="en-US"/>
              <a:t>练</a:t>
            </a:r>
            <a:endParaRPr lang="zh-CN" altLang="en-US"/>
          </a:p>
        </p:txBody>
      </p:sp>
    </p:spTree>
    <p:custDataLst>
      <p:tags r:id="rId2"/>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给定一段包含手机号码的文本，要求对其进行处理，以给手机号码打上马赛克效果，隐藏其中的部分数字。</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096 </a:t>
            </a:r>
            <a:r>
              <a:rPr lang="zh-CN" altLang="en-US"/>
              <a:t>练</a:t>
            </a:r>
            <a:endParaRPr lang="zh-CN" altLang="en-US"/>
          </a:p>
        </p:txBody>
      </p:sp>
    </p:spTree>
    <p:custDataLst>
      <p:tags r:id="rId2"/>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给定一个包含多种日期格式的字符串，要求将其中的日期格式统一转换为</a:t>
            </a:r>
            <a:r>
              <a:rPr lang="en-US" altLang="zh-CN">
                <a:sym typeface="+mn-ea"/>
              </a:rPr>
              <a:t> YYYY-MM-DD </a:t>
            </a:r>
            <a:r>
              <a:rPr lang="zh-CN" altLang="en-US">
                <a:sym typeface="+mn-ea"/>
              </a:rPr>
              <a:t>的形式。</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097 </a:t>
            </a:r>
            <a:r>
              <a:rPr lang="zh-CN" altLang="en-US"/>
              <a:t>练</a:t>
            </a:r>
            <a:endParaRPr lang="zh-CN" altLang="en-US"/>
          </a:p>
        </p:txBody>
      </p:sp>
    </p:spTree>
    <p:custDataLst>
      <p:tags r:id="rId2"/>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64516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a:t>
            </a:r>
            <a:r>
              <a:rPr lang="en-US" altLang="zh-CN">
                <a:solidFill>
                  <a:schemeClr val="accent2"/>
                </a:solidFill>
                <a:sym typeface="+mn-ea"/>
              </a:rPr>
              <a:t>BeginnerGuideToPython.txt</a:t>
            </a:r>
            <a:r>
              <a:rPr lang="en-US" altLang="zh-CN">
                <a:sym typeface="+mn-ea"/>
              </a:rPr>
              <a:t> </a:t>
            </a:r>
            <a:r>
              <a:rPr lang="zh-CN" altLang="en-US">
                <a:sym typeface="+mn-ea"/>
              </a:rPr>
              <a:t>文件中提取单词并统计词频，打印频率最高的前</a:t>
            </a:r>
            <a:r>
              <a:rPr lang="en-US" altLang="zh-CN">
                <a:sym typeface="+mn-ea"/>
              </a:rPr>
              <a:t>20</a:t>
            </a:r>
            <a:r>
              <a:rPr lang="zh-CN" altLang="en-US">
                <a:sym typeface="+mn-ea"/>
              </a:rPr>
              <a:t>个单词及其出现次数。</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098 </a:t>
            </a:r>
            <a:r>
              <a:rPr lang="zh-CN" altLang="en-US"/>
              <a:t>练</a:t>
            </a:r>
            <a:endParaRPr lang="zh-CN" altLang="en-US"/>
          </a:p>
        </p:txBody>
      </p:sp>
    </p:spTree>
    <p:custDataLst>
      <p:tags r:id="rId2"/>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对一段中文文本进行分词操作，并去除文本中的标点符号和空格。</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099 </a:t>
            </a:r>
            <a:r>
              <a:rPr lang="zh-CN" altLang="en-US"/>
              <a:t>练</a:t>
            </a:r>
            <a:endParaRPr lang="zh-CN" altLang="en-US"/>
          </a:p>
        </p:txBody>
      </p:sp>
    </p:spTree>
    <p:custDataLst>
      <p:tags r:id="rId2"/>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2025" y="5600065"/>
            <a:ext cx="7727950" cy="502285"/>
          </a:xfrm>
          <a:prstGeom prst="rect">
            <a:avLst/>
          </a:prstGeom>
          <a:noFill/>
        </p:spPr>
        <p:txBody>
          <a:bodyPr wrap="square" rtlCol="0">
            <a:noAutofit/>
          </a:bodyPr>
          <a:p>
            <a:pPr algn="l"/>
            <a:endParaRPr lang="zh-CN" altLang="en-US" sz="2000">
              <a:latin typeface="楷体" panose="02010609060101010101" charset="-122"/>
              <a:ea typeface="楷体" panose="02010609060101010101" charset="-122"/>
            </a:endParaRPr>
          </a:p>
        </p:txBody>
      </p:sp>
      <p:pic>
        <p:nvPicPr>
          <p:cNvPr id="2" name="图片 1" descr="好学星城横_3(2)"/>
          <p:cNvPicPr>
            <a:picLocks noChangeAspect="1"/>
          </p:cNvPicPr>
          <p:nvPr/>
        </p:nvPicPr>
        <p:blipFill>
          <a:blip r:embed="rId1"/>
          <a:stretch>
            <a:fillRect/>
          </a:stretch>
        </p:blipFill>
        <p:spPr>
          <a:xfrm>
            <a:off x="8550910" y="0"/>
            <a:ext cx="3641090" cy="1060450"/>
          </a:xfrm>
          <a:prstGeom prst="rect">
            <a:avLst/>
          </a:prstGeom>
        </p:spPr>
      </p:pic>
      <p:sp>
        <p:nvSpPr>
          <p:cNvPr id="5" name="文本框 4"/>
          <p:cNvSpPr txBox="1"/>
          <p:nvPr/>
        </p:nvSpPr>
        <p:spPr>
          <a:xfrm>
            <a:off x="660400" y="1381760"/>
            <a:ext cx="10824845" cy="368300"/>
          </a:xfrm>
          <a:prstGeom prst="rect">
            <a:avLst/>
          </a:prstGeom>
          <a:noFill/>
        </p:spPr>
        <p:txBody>
          <a:bodyPr wrap="square" rtlCol="0">
            <a:spAutoFit/>
          </a:bodyPr>
          <a:p>
            <a:pPr algn="l"/>
            <a:r>
              <a:rPr lang="zh-CN" altLang="en-US" b="1">
                <a:sym typeface="+mn-ea"/>
              </a:rPr>
              <a:t>需求：</a:t>
            </a:r>
            <a:r>
              <a:rPr lang="zh-CN" altLang="en-US">
                <a:sym typeface="+mn-ea"/>
              </a:rPr>
              <a:t>从</a:t>
            </a:r>
            <a:r>
              <a:rPr lang="en-US" altLang="zh-CN">
                <a:sym typeface="+mn-ea"/>
              </a:rPr>
              <a:t> </a:t>
            </a:r>
            <a:r>
              <a:rPr lang="zh-CN" altLang="en-US">
                <a:solidFill>
                  <a:schemeClr val="accent2"/>
                </a:solidFill>
                <a:sym typeface="+mn-ea"/>
              </a:rPr>
              <a:t>鹿鼎记</a:t>
            </a:r>
            <a:r>
              <a:rPr lang="en-US" altLang="zh-CN">
                <a:solidFill>
                  <a:schemeClr val="accent2"/>
                </a:solidFill>
                <a:sym typeface="+mn-ea"/>
              </a:rPr>
              <a:t>.txt</a:t>
            </a:r>
            <a:r>
              <a:rPr lang="en-US" altLang="zh-CN">
                <a:sym typeface="+mn-ea"/>
              </a:rPr>
              <a:t> </a:t>
            </a:r>
            <a:r>
              <a:rPr lang="zh-CN" altLang="en-US">
                <a:sym typeface="+mn-ea"/>
              </a:rPr>
              <a:t>文件中提取所有人名，并统计这些人名出现的频率，打印出现频率最高的前</a:t>
            </a:r>
            <a:r>
              <a:rPr lang="en-US" altLang="zh-CN">
                <a:sym typeface="+mn-ea"/>
              </a:rPr>
              <a:t>20</a:t>
            </a:r>
            <a:r>
              <a:rPr lang="zh-CN" altLang="en-US">
                <a:sym typeface="+mn-ea"/>
              </a:rPr>
              <a:t>个人名。</a:t>
            </a:r>
            <a:endParaRPr lang="zh-CN" altLang="en-US">
              <a:sym typeface="+mn-ea"/>
            </a:endParaRPr>
          </a:p>
        </p:txBody>
      </p:sp>
      <p:sp>
        <p:nvSpPr>
          <p:cNvPr id="55" name="Title 54"/>
          <p:cNvSpPr>
            <a:spLocks noGrp="1"/>
          </p:cNvSpPr>
          <p:nvPr>
            <p:ph type="title"/>
          </p:nvPr>
        </p:nvSpPr>
        <p:spPr/>
        <p:txBody>
          <a:bodyPr wrap="square">
            <a:normAutofit/>
          </a:bodyPr>
          <a:p>
            <a:pPr lvl="0"/>
            <a:r>
              <a:rPr lang="zh-CN" altLang="en-US"/>
              <a:t>第</a:t>
            </a:r>
            <a:r>
              <a:rPr lang="en-US" altLang="zh-CN"/>
              <a:t> 100 </a:t>
            </a:r>
            <a:r>
              <a:rPr lang="zh-CN" altLang="en-US"/>
              <a:t>练</a:t>
            </a:r>
            <a:endParaRPr lang="zh-CN" altLang="en-US"/>
          </a:p>
        </p:txBody>
      </p:sp>
    </p:spTree>
    <p:custDataLst>
      <p:tags r:id="rId2"/>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en-US"/>
              <a:t>Thank You</a:t>
            </a:r>
            <a:endParaRPr lang="en-US"/>
          </a:p>
        </p:txBody>
      </p:sp>
      <p:sp>
        <p:nvSpPr>
          <p:cNvPr id="3" name="圆角矩形 2"/>
          <p:cNvSpPr/>
          <p:nvPr>
            <p:custDataLst>
              <p:tags r:id="rId1"/>
            </p:custDataLst>
          </p:nvPr>
        </p:nvSpPr>
        <p:spPr>
          <a:xfrm>
            <a:off x="8431530" y="4686935"/>
            <a:ext cx="2262505" cy="615315"/>
          </a:xfrm>
          <a:prstGeom prst="roundRect">
            <a:avLst>
              <a:gd name="adj" fmla="val 50000"/>
            </a:avLst>
          </a:prstGeom>
          <a:solidFill>
            <a:schemeClr val="accent1"/>
          </a:solidFill>
          <a:ln w="12700" cap="rnd">
            <a:noFill/>
            <a:prstDash val="solid"/>
            <a:rou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b" anchorCtr="0" forceAA="0" compatLnSpc="1">
            <a:normAutofit/>
          </a:bodyPr>
          <a:p>
            <a:pPr algn="ctr" defTabSz="914400">
              <a:lnSpc>
                <a:spcPct val="100000"/>
              </a:lnSpc>
            </a:pPr>
            <a:endParaRPr lang="zh-CN" altLang="en-US" sz="1400" b="1" dirty="0">
              <a:solidFill>
                <a:srgbClr val="FFFFFF"/>
              </a:solidFill>
            </a:endParaRPr>
          </a:p>
        </p:txBody>
      </p:sp>
      <p:sp>
        <p:nvSpPr>
          <p:cNvPr id="6" name="文本框 5"/>
          <p:cNvSpPr txBox="1"/>
          <p:nvPr/>
        </p:nvSpPr>
        <p:spPr>
          <a:xfrm>
            <a:off x="8731250" y="4810125"/>
            <a:ext cx="1837055" cy="368300"/>
          </a:xfrm>
          <a:prstGeom prst="rect">
            <a:avLst/>
          </a:prstGeom>
          <a:noFill/>
        </p:spPr>
        <p:txBody>
          <a:bodyPr wrap="square" rtlCol="0">
            <a:spAutoFit/>
          </a:bodyPr>
          <a:p>
            <a:r>
              <a:rPr lang="zh-CN" altLang="en-US" b="1">
                <a:ln w="15875"/>
                <a:solidFill>
                  <a:schemeClr val="tx1"/>
                </a:solidFill>
                <a:effectLst/>
                <a:latin typeface="黑体" panose="02010609060101010101" charset="-122"/>
                <a:ea typeface="黑体" panose="02010609060101010101" charset="-122"/>
              </a:rPr>
              <a:t>主讲老师：冰冰</a:t>
            </a:r>
            <a:endParaRPr lang="zh-CN" altLang="en-US" b="1">
              <a:ln w="15875"/>
              <a:solidFill>
                <a:schemeClr val="tx1"/>
              </a:solidFill>
              <a:effectLst/>
              <a:latin typeface="黑体" panose="02010609060101010101" charset="-122"/>
              <a:ea typeface="黑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OFFICEPLUS.TAG" val="03a12446-4040-4dad-8d54-bb681f108928"/>
</p:tagLst>
</file>

<file path=ppt/tags/tag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2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3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4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5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6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7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8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2.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3.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4.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5.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6.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7.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8.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99.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00.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01.xml><?xml version="1.0" encoding="utf-8"?>
<p:tagLst xmlns:p="http://schemas.openxmlformats.org/presentationml/2006/main">
  <p:tag name="OFFICEPLUS.TEMPLATE" val="f5d292d6-9500-4575-9c4c-806637195547.pptx"/>
  <p:tag name="OFFICEPLUS.TAG" val="9e4641ec-8dc6-4050-900b-dadf5fdb9e4c"/>
  <p:tag name="OFFICEPLUS.OUTLINECONTENT" val="24688607"/>
</p:tagLst>
</file>

<file path=ppt/tags/tag102.xml><?xml version="1.0" encoding="utf-8"?>
<p:tagLst xmlns:p="http://schemas.openxmlformats.org/presentationml/2006/main">
  <p:tag name="KSO_WM_DIAGRAM_VIRTUALLY_FRAME" val="{&quot;height&quot;:478.0504724409449,&quot;left&quot;:0.0003937007874015748,&quot;top&quot;:0,&quot;width&quot;:959.9997637795275}"/>
</p:tagLst>
</file>

<file path=ppt/tags/tag103.xml><?xml version="1.0" encoding="utf-8"?>
<p:tagLst xmlns:p="http://schemas.openxmlformats.org/presentationml/2006/main">
  <p:tag name="OFFICEPLUS.TAG" val="e69c5ac3-dafd-4b9a-bbf1-d26a1016f816"/>
</p:tagLst>
</file>

<file path=ppt/tags/tag104.xml><?xml version="1.0" encoding="utf-8"?>
<p:tagLst xmlns:p="http://schemas.openxmlformats.org/presentationml/2006/main">
  <p:tag name="OFFICEPLUS.IMAGE" val="New_Batches_0104_Outline/20240104/images_object_2001_3000/c299e4a4-0583-4565-9005-96acaf707aaf-4.source.default.zh-Hans.jpg"/>
  <p:tag name="OFFICEPLUS.THEME" val="New_Batches_0104_Outline/20240104/images_object_2001_3000/c299e4a4-0583-4565-9005-96acaf707aaf-4.source.default.zh-Hans-9.pptx"/>
  <p:tag name="OFFICEPLUS.OUTLINE" val="888020"/>
  <p:tag name="OFFICEPLUS.OUTLINEEXTERNAL" val="b2909a36-6bbf-a0a7-0d7a-d53a36ed94bb"/>
  <p:tag name="commondata" val="eyJoZGlkIjoiYzlmY2Q0YzQxMjYyYmY1OTc3ZTRhNTBmY2JjZTIwZTIifQ=="/>
</p:tagLst>
</file>

<file path=ppt/theme/theme1.xml><?xml version="1.0" encoding="utf-8"?>
<a:theme xmlns:a="http://schemas.openxmlformats.org/drawingml/2006/main" name="Designed by OfficePLUS">
  <a:themeElements>
    <a:clrScheme name="OfficePLUS">
      <a:dk1>
        <a:srgbClr val="000000"/>
      </a:dk1>
      <a:lt1>
        <a:srgbClr val="FFFFFF"/>
      </a:lt1>
      <a:dk2>
        <a:srgbClr val="778495"/>
      </a:dk2>
      <a:lt2>
        <a:srgbClr val="F0F0F0"/>
      </a:lt2>
      <a:accent1>
        <a:srgbClr val="1C9BEF"/>
      </a:accent1>
      <a:accent2>
        <a:srgbClr val="5CA2EB"/>
      </a:accent2>
      <a:accent3>
        <a:srgbClr val="006BAD"/>
      </a:accent3>
      <a:accent4>
        <a:srgbClr val="41C6FF"/>
      </a:accent4>
      <a:accent5>
        <a:srgbClr val="008CD4"/>
      </a:accent5>
      <a:accent6>
        <a:srgbClr val="72CAFF"/>
      </a:accent6>
      <a:hlink>
        <a:srgbClr val="4472C4"/>
      </a:hlink>
      <a:folHlink>
        <a:srgbClr val="BFBFBF"/>
      </a:folHlink>
    </a:clrScheme>
    <a:fontScheme name="OfficePLUS">
      <a:majorFont>
        <a:latin typeface="Arial"/>
        <a:ea typeface="微软雅黑"/>
        <a:cs typeface=""/>
      </a:majorFont>
      <a:minorFont>
        <a:latin typeface="Arial"/>
        <a:ea typeface="微软雅黑"/>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7275</Words>
  <Application>WPS 演示</Application>
  <PresentationFormat>Widescreen</PresentationFormat>
  <Paragraphs>469</Paragraphs>
  <Slides>102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102</vt:i4>
      </vt:variant>
    </vt:vector>
  </HeadingPairs>
  <TitlesOfParts>
    <vt:vector size="111" baseType="lpstr">
      <vt:lpstr>Arial</vt:lpstr>
      <vt:lpstr>宋体</vt:lpstr>
      <vt:lpstr>Wingdings</vt:lpstr>
      <vt:lpstr>微软雅黑</vt:lpstr>
      <vt:lpstr>楷体</vt:lpstr>
      <vt:lpstr>Arial Unicode MS</vt:lpstr>
      <vt:lpstr>等线</vt:lpstr>
      <vt:lpstr>黑体</vt:lpstr>
      <vt:lpstr>Designed by OfficePLUS</vt:lpstr>
      <vt:lpstr>Python入门</vt:lpstr>
      <vt:lpstr>第 001 练</vt:lpstr>
      <vt:lpstr>第 002 练</vt:lpstr>
      <vt:lpstr>第 003 练</vt:lpstr>
      <vt:lpstr>第 004 练</vt:lpstr>
      <vt:lpstr>第 005 练</vt:lpstr>
      <vt:lpstr>第 006 练</vt:lpstr>
      <vt:lpstr>第 007 练</vt:lpstr>
      <vt:lpstr>第 008 练</vt:lpstr>
      <vt:lpstr>第 009 练</vt:lpstr>
      <vt:lpstr>第 010 练</vt:lpstr>
      <vt:lpstr>第 011 练</vt:lpstr>
      <vt:lpstr>第 012 练</vt:lpstr>
      <vt:lpstr>第 013 练</vt:lpstr>
      <vt:lpstr>第 014 练</vt:lpstr>
      <vt:lpstr>第 015 练</vt:lpstr>
      <vt:lpstr>第 016 练</vt:lpstr>
      <vt:lpstr>第 017 练</vt:lpstr>
      <vt:lpstr>第 018 练</vt:lpstr>
      <vt:lpstr>第 019 练</vt:lpstr>
      <vt:lpstr>第 020 练</vt:lpstr>
      <vt:lpstr>第 021 练</vt:lpstr>
      <vt:lpstr>第 022 练</vt:lpstr>
      <vt:lpstr>第 023 练</vt:lpstr>
      <vt:lpstr>第 024 练</vt:lpstr>
      <vt:lpstr>第 025 练</vt:lpstr>
      <vt:lpstr>第 026 练</vt:lpstr>
      <vt:lpstr>第 027 练</vt:lpstr>
      <vt:lpstr>第 028 练</vt:lpstr>
      <vt:lpstr>第 029 练</vt:lpstr>
      <vt:lpstr>第 030 练</vt:lpstr>
      <vt:lpstr>第 031 练</vt:lpstr>
      <vt:lpstr>第 032 练</vt:lpstr>
      <vt:lpstr>第 033 练</vt:lpstr>
      <vt:lpstr>第 034 练</vt:lpstr>
      <vt:lpstr>第 035 练</vt:lpstr>
      <vt:lpstr>第 036 练</vt:lpstr>
      <vt:lpstr>第 037 练</vt:lpstr>
      <vt:lpstr>第 038 练</vt:lpstr>
      <vt:lpstr>第 039 练</vt:lpstr>
      <vt:lpstr>第 040 练</vt:lpstr>
      <vt:lpstr>第 041 练</vt:lpstr>
      <vt:lpstr>第 042 练</vt:lpstr>
      <vt:lpstr>第 043 练</vt:lpstr>
      <vt:lpstr>第 044 练</vt:lpstr>
      <vt:lpstr>第 045 练</vt:lpstr>
      <vt:lpstr>第 046 练</vt:lpstr>
      <vt:lpstr>第 047 练</vt:lpstr>
      <vt:lpstr>第 048 练</vt:lpstr>
      <vt:lpstr>第 049 练</vt:lpstr>
      <vt:lpstr>第 050 练</vt:lpstr>
      <vt:lpstr>第 051 练</vt:lpstr>
      <vt:lpstr>第 052 练</vt:lpstr>
      <vt:lpstr>第 053 练</vt:lpstr>
      <vt:lpstr>第 054 练</vt:lpstr>
      <vt:lpstr>第 055 练</vt:lpstr>
      <vt:lpstr>第 056 练</vt:lpstr>
      <vt:lpstr>第 057 练</vt:lpstr>
      <vt:lpstr>第 058 练</vt:lpstr>
      <vt:lpstr>第 059 练</vt:lpstr>
      <vt:lpstr>第 060 练</vt:lpstr>
      <vt:lpstr>第 061 练</vt:lpstr>
      <vt:lpstr>第 062 练</vt:lpstr>
      <vt:lpstr>第 063 练</vt:lpstr>
      <vt:lpstr>第 064 练</vt:lpstr>
      <vt:lpstr>第 065 练</vt:lpstr>
      <vt:lpstr>第 066 练</vt:lpstr>
      <vt:lpstr>第 067 练</vt:lpstr>
      <vt:lpstr>第 068 练</vt:lpstr>
      <vt:lpstr>第 069 练</vt:lpstr>
      <vt:lpstr>第 070 练</vt:lpstr>
      <vt:lpstr>第 071 练</vt:lpstr>
      <vt:lpstr>第 072 练</vt:lpstr>
      <vt:lpstr>第 073 练</vt:lpstr>
      <vt:lpstr>第 074 练</vt:lpstr>
      <vt:lpstr>第 075 练</vt:lpstr>
      <vt:lpstr>第 076 练</vt:lpstr>
      <vt:lpstr>第 077 练</vt:lpstr>
      <vt:lpstr>第 078 练</vt:lpstr>
      <vt:lpstr>第 079 练</vt:lpstr>
      <vt:lpstr>第 080 练</vt:lpstr>
      <vt:lpstr>第 081 练</vt:lpstr>
      <vt:lpstr>第 082 练</vt:lpstr>
      <vt:lpstr>第 083 练</vt:lpstr>
      <vt:lpstr>第 084 练</vt:lpstr>
      <vt:lpstr>第 085 练</vt:lpstr>
      <vt:lpstr>第 086 练</vt:lpstr>
      <vt:lpstr>第 087 练</vt:lpstr>
      <vt:lpstr>第 088 练</vt:lpstr>
      <vt:lpstr>第 089 练</vt:lpstr>
      <vt:lpstr>第 090 练</vt:lpstr>
      <vt:lpstr>第 091 练</vt:lpstr>
      <vt:lpstr>第 092 练</vt:lpstr>
      <vt:lpstr>第 093 练</vt:lpstr>
      <vt:lpstr>第 094 练</vt:lpstr>
      <vt:lpstr>第 095 练</vt:lpstr>
      <vt:lpstr>第 096 练</vt:lpstr>
      <vt:lpstr>第 097 练</vt:lpstr>
      <vt:lpstr>第 098 练</vt:lpstr>
      <vt:lpstr>第 099 练</vt:lpstr>
      <vt:lpstr>第 100 练</vt:lpstr>
      <vt:lpstr>Thank You</vt:lpstr>
    </vt:vector>
  </TitlesOfParts>
  <Company>OfficePLUS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晚秋</cp:lastModifiedBy>
  <cp:revision>134</cp:revision>
  <dcterms:created xsi:type="dcterms:W3CDTF">2023-07-20T03:04:00Z</dcterms:created>
  <dcterms:modified xsi:type="dcterms:W3CDTF">2025-04-08T07:23:15Z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5E72D26A0FA643BE8A4AB0CA23441FB5_12</vt:lpwstr>
  </property>
  <property fmtid="{D5CDD505-2E9C-101B-9397-08002B2CF9AE}" pid="3" name="KSOProductBuildVer">
    <vt:lpwstr>2052-12.1.0.20305</vt:lpwstr>
  </property>
</Properties>
</file>